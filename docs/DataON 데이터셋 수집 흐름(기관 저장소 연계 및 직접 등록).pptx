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491" r:id="rId2"/>
    <p:sldId id="492" r:id="rId3"/>
    <p:sldId id="494" r:id="rId4"/>
    <p:sldId id="495" r:id="rId5"/>
    <p:sldId id="501" r:id="rId6"/>
    <p:sldId id="505" r:id="rId7"/>
    <p:sldId id="506" r:id="rId8"/>
    <p:sldId id="498" r:id="rId9"/>
    <p:sldId id="496" r:id="rId10"/>
    <p:sldId id="499" r:id="rId11"/>
    <p:sldId id="500" r:id="rId12"/>
    <p:sldId id="503" r:id="rId13"/>
    <p:sldId id="509" r:id="rId14"/>
    <p:sldId id="507" r:id="rId15"/>
    <p:sldId id="508" r:id="rId1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813" autoAdjust="0"/>
  </p:normalViewPr>
  <p:slideViewPr>
    <p:cSldViewPr snapToGrid="0" showGuides="1">
      <p:cViewPr varScale="1">
        <p:scale>
          <a:sx n="128" d="100"/>
          <a:sy n="128" d="100"/>
        </p:scale>
        <p:origin x="145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9638B-F622-45E4-AB16-582EFDD0F68A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3A7258-AE85-4C80-92ED-342F25E7C47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380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A7258-AE85-4C80-92ED-342F25E7C47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30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수집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통합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서비스</a:t>
            </a:r>
            <a:r>
              <a:rPr lang="en-US" altLang="ko-KR" dirty="0"/>
              <a:t>: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A7258-AE85-4C80-92ED-342F25E7C47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482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3A7258-AE85-4C80-92ED-342F25E7C47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853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E79043-749C-4E94-A833-70521A046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ACB767-F27F-4EF6-A927-42317270B0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FD8268-1E79-4EB0-85B1-0FCB47D85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486A6-B29B-4E33-A3E6-4F63AD8FD477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127C16-EFF5-4FEC-8429-277C91BBC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6FB51B-72B8-41A2-9CE8-1A9ED3CCD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846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15772-79F8-4BE0-AC64-5BA2271F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71B28F-3886-460E-A275-EC3368C08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F29730-43F7-4190-802A-9070A5B2B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97D4C-D954-4122-A8D4-A2A452FBC3F7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E03459-BFC5-4D39-87BD-16F160C26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64C77E-CDED-4293-BE2B-84CE9996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0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1985EA-CFCF-4689-9FE3-7A9DFCDC6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924E64-5470-42DA-81F5-944E8A9A5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C0AF2-21F9-48DA-81AC-DE15C57AF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75A60-792E-4823-AA26-A7CDD333C07A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7E0A57-F0BB-444C-90F3-840718D9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16AD17-DB42-4D11-A1BF-02DC2FCC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5826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2EB4E8-A493-4757-91E7-C2721F474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941468-E928-418A-956D-1DD9E77BE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C38771F-247F-48F1-A176-3889CEBF2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4D3FFB-CC26-4ABC-9844-0F6E0CD3D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7E09-8B60-4DE6-939E-11127AE6DCBD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0504F0-EC42-45A4-B760-84EEE504B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87ADD1-3D4D-45A1-B144-3A0E202D9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4324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70E3C-0C81-41CC-A6B2-628795649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557AC2-DC10-4A91-9200-C8FF4B6DA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CBB9DF-2C29-4861-A9B4-680013D6B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E13BEE-D706-4AE4-90FB-7BD9F9BBE5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DAB2BC-8AD4-47A6-B666-19703F8D3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7CA2BB-A5DB-4F50-B876-F2683FE6F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A9E50-100D-4CAC-A638-80F354FF7C5D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070FC0-AD7A-46BC-B62F-823A06D0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473006D-68FA-4F13-9116-9CD8BEF6F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3083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22326E-5365-4A7D-B9CA-E9FD7CAAF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6A52F94-F9E9-410D-B4ED-52D5B4C73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43F60-36C1-4EE8-A489-07F80CE2C1A8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CB014C-4969-47D0-87BA-719BB8EF5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0AF0BC1-75F4-42FF-9894-F6A614365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591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A0693F-AC7C-4ECA-A86A-481410580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C4475-06BD-4B10-AA29-AEF79C992C87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4C43386-2947-4E06-9E95-D7F117F93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BA1454-D5C7-42C2-889B-7EBE62380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520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9C0BB-1DAD-4DDD-8916-5EB904258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3BBCB6-A1D4-4C8E-A8B9-EF55475A2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F264AC9-F718-455A-861A-64081DCF9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242758-044B-4715-B1E3-76242B46A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3F76-744F-40FA-9E03-9C0BA05A4B0B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09CA51-0844-401B-919B-EE367453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D22FA2-8A8A-4815-A50D-14D17469E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974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A9DBB5-8608-4A10-8E0B-57532D6F8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9DAD3F-5D76-4DB4-B657-F748FD4FD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C4FD2BF-AC7F-444A-8EEC-D215B2B22F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383C13-CEF2-4148-A416-8F32B504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4F03A-2281-439F-94A1-69BF706EFECB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DF2F024-472B-486B-933E-639F300A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0BAD67-8E4E-486F-BF6B-42BE39A2E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751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EFFC25-F147-4CC1-B0FE-649199C8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F2C5AD-3030-46D6-AD73-69EB5EEE4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7389C9-6642-420F-9B6A-9D119BD3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0B171C-F964-43E0-8C3F-E3F40287E3BA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95D0D4-873D-4DA5-923E-857D98D21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06905A-1BA3-4609-B7EA-3120EC309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372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60ADC7-6D18-4A7B-82D3-3FB1D77404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B8BCFA-C101-4100-8497-A1989D82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2223CD-39F3-4AF7-9DA1-5EA1191BA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7CC2B-F317-41C7-90EE-847D99830027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A2C032-751C-4D14-94AC-948CC3EE0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CF0E6B-7C21-43CB-8244-AE692BCCC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48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09C897-89C4-4636-8698-633012BB5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358189-D51F-4D53-AB0C-7D7EED6CAE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0B02FD-904C-4494-B09E-0BC49639D0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13F8B-5706-442B-BFC1-17DB79272FDA}" type="datetime1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905119-34CF-4433-8C36-903047A3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3B014B-4749-4B9E-980D-898AB516E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E093-9DE1-49FC-BBF1-C26117B800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02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C274B-0F3F-43A4-A918-3D65F5837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국가연구데이터플랫폼</a:t>
            </a:r>
            <a:r>
              <a:rPr lang="en-US" altLang="ko-KR" dirty="0"/>
              <a:t>(</a:t>
            </a:r>
            <a:r>
              <a:rPr lang="en-US" altLang="ko-KR" dirty="0" err="1"/>
              <a:t>DataON</a:t>
            </a:r>
            <a:r>
              <a:rPr lang="en-US" altLang="ko-KR" dirty="0"/>
              <a:t>)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8FB428-F78E-48B9-BD7D-4F41EDA8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R&amp;D </a:t>
            </a:r>
            <a:r>
              <a:rPr lang="ko-KR" altLang="en-US" dirty="0"/>
              <a:t>과정에서 산출되는 연구데이터의 효율적 수집 및 </a:t>
            </a:r>
            <a:br>
              <a:rPr lang="en-US" altLang="ko-KR" dirty="0"/>
            </a:br>
            <a:r>
              <a:rPr lang="ko-KR" altLang="en-US" dirty="0"/>
              <a:t>활용체계 마련을 위한 국가연구데이터플랫폼 운영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연구데이터를 원스톱으로 검색하고 활용할 수 있는 </a:t>
            </a:r>
            <a:br>
              <a:rPr lang="en-US" altLang="ko-KR" dirty="0"/>
            </a:br>
            <a:r>
              <a:rPr lang="ko-KR" altLang="en-US" dirty="0"/>
              <a:t>통합 플랫폼 </a:t>
            </a:r>
            <a:r>
              <a:rPr lang="en-US" altLang="ko-KR" dirty="0"/>
              <a:t>(</a:t>
            </a:r>
            <a:r>
              <a:rPr lang="ko-KR" altLang="en-US" b="1" dirty="0">
                <a:solidFill>
                  <a:schemeClr val="accent2"/>
                </a:solidFill>
              </a:rPr>
              <a:t>연구데이터 포털</a:t>
            </a:r>
            <a:r>
              <a:rPr lang="en-US" altLang="ko-KR" dirty="0"/>
              <a:t>)</a:t>
            </a:r>
            <a:endParaRPr lang="ko-KR" altLang="en-US" dirty="0"/>
          </a:p>
          <a:p>
            <a:pPr>
              <a:lnSpc>
                <a:spcPct val="100000"/>
              </a:lnSpc>
            </a:pPr>
            <a:r>
              <a:rPr lang="ko-KR" altLang="en-US" dirty="0"/>
              <a:t>국내외 연구데이터 보유기관들과 주기적 데이터 연계 및 수집</a:t>
            </a:r>
          </a:p>
          <a:p>
            <a:pPr>
              <a:lnSpc>
                <a:spcPct val="100000"/>
              </a:lnSpc>
            </a:pPr>
            <a:r>
              <a:rPr lang="ko-KR" altLang="en-US" dirty="0"/>
              <a:t>연구데이터의 활용 촉진을 위한 데이터 분석 환경 제공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16B445-06B2-429A-9D06-84F59428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243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5B1F49-9160-4FF6-94AC-DAA620695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연구데이터 </a:t>
            </a:r>
            <a:r>
              <a:rPr lang="ko-KR" altLang="en-US" dirty="0" err="1"/>
              <a:t>리포지터리</a:t>
            </a:r>
            <a:r>
              <a:rPr lang="en-US" altLang="ko-KR" dirty="0"/>
              <a:t>(</a:t>
            </a:r>
            <a:r>
              <a:rPr lang="en-US" altLang="ko-KR" dirty="0" err="1"/>
              <a:t>NaRDA</a:t>
            </a:r>
            <a:r>
              <a:rPr lang="en-US" altLang="ko-KR" dirty="0"/>
              <a:t>) </a:t>
            </a:r>
            <a:r>
              <a:rPr lang="ko-KR" altLang="en-US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FB3BAF-3607-4BEB-9B8F-D172B3354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 dirty="0"/>
              <a:t>한국형 연구데이터 관리 웹서비스 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ko-KR" altLang="en-US" dirty="0"/>
          </a:p>
          <a:p>
            <a:pPr>
              <a:lnSpc>
                <a:spcPct val="100000"/>
              </a:lnSpc>
            </a:pPr>
            <a:r>
              <a:rPr lang="ko-KR" altLang="en-US" dirty="0"/>
              <a:t>연구자의 데이터 관리를 </a:t>
            </a:r>
            <a:r>
              <a:rPr lang="ko-KR" altLang="en-US" u="sng" dirty="0"/>
              <a:t>계획 단계</a:t>
            </a:r>
            <a:r>
              <a:rPr lang="ko-KR" altLang="en-US" dirty="0"/>
              <a:t>부터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최종결과물을 </a:t>
            </a:r>
            <a:r>
              <a:rPr lang="ko-KR" altLang="en-US" u="sng" dirty="0"/>
              <a:t>등록하는 단계</a:t>
            </a:r>
            <a:r>
              <a:rPr lang="ko-KR" altLang="en-US" dirty="0"/>
              <a:t>까지 지원</a:t>
            </a:r>
            <a:endParaRPr lang="en-US" altLang="ko-KR" dirty="0"/>
          </a:p>
          <a:p>
            <a:pPr>
              <a:lnSpc>
                <a:spcPct val="100000"/>
              </a:lnSpc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연구자의 데이터 관리 활용 주기를 고려한 관련 기능 제공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5B7340-7D1A-47B9-9C1B-D5E3A7CCD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1552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BD8888-C7AF-4DBF-A91C-F0A3EFEF1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NaRDA</a:t>
            </a:r>
            <a:r>
              <a:rPr lang="en-US" altLang="ko-KR" dirty="0"/>
              <a:t> -</a:t>
            </a:r>
            <a:r>
              <a:rPr lang="ko-KR" altLang="en-US" dirty="0"/>
              <a:t> </a:t>
            </a:r>
            <a:r>
              <a:rPr lang="en-US" altLang="ko-KR" dirty="0" err="1"/>
              <a:t>DataON</a:t>
            </a:r>
            <a:r>
              <a:rPr lang="en-US" altLang="ko-KR" dirty="0"/>
              <a:t> </a:t>
            </a:r>
            <a:r>
              <a:rPr lang="ko-KR" altLang="en-US" dirty="0"/>
              <a:t>데이터 연계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0E2378-24AD-443A-B5BA-4C5EDA48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B38063D-3072-40A7-867D-7232E8083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99" y="2027722"/>
            <a:ext cx="8272102" cy="45962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3B1F64-EBD9-4352-8D71-CE23EEAB1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200" y="1826385"/>
            <a:ext cx="4274400" cy="1923638"/>
          </a:xfrm>
          <a:prstGeom prst="rect">
            <a:avLst/>
          </a:prstGeom>
        </p:spPr>
      </p:pic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C805BA8C-DC89-472D-B682-C07372ED54D9}"/>
              </a:ext>
            </a:extLst>
          </p:cNvPr>
          <p:cNvCxnSpPr>
            <a:cxnSpLocks/>
            <a:endCxn id="8" idx="3"/>
          </p:cNvCxnSpPr>
          <p:nvPr/>
        </p:nvCxnSpPr>
        <p:spPr>
          <a:xfrm rot="10800000" flipV="1">
            <a:off x="8532002" y="2591999"/>
            <a:ext cx="3211199" cy="1733861"/>
          </a:xfrm>
          <a:prstGeom prst="bentConnector3">
            <a:avLst>
              <a:gd name="adj1" fmla="val -6502"/>
            </a:avLst>
          </a:prstGeom>
          <a:ln>
            <a:solidFill>
              <a:schemeClr val="bg1">
                <a:lumMod val="50000"/>
              </a:schemeClr>
            </a:solidFill>
            <a:prstDash val="lg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249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12648-9964-4BC8-9CE0-6C01790A9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ACOMS – </a:t>
            </a:r>
            <a:r>
              <a:rPr lang="en-US" altLang="ko-KR" dirty="0" err="1"/>
              <a:t>DataON</a:t>
            </a:r>
            <a:r>
              <a:rPr lang="en-US" altLang="ko-KR" dirty="0"/>
              <a:t> </a:t>
            </a:r>
            <a:r>
              <a:rPr lang="ko-KR" altLang="en-US" dirty="0"/>
              <a:t>연계 메타데이터 정의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C7939A23-A22E-483B-A8A3-58F6A3C5D0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9474851"/>
              </p:ext>
            </p:extLst>
          </p:nvPr>
        </p:nvGraphicFramePr>
        <p:xfrm>
          <a:off x="1286295" y="1825621"/>
          <a:ext cx="9619409" cy="4351346"/>
        </p:xfrm>
        <a:graphic>
          <a:graphicData uri="http://schemas.openxmlformats.org/drawingml/2006/table">
            <a:tbl>
              <a:tblPr/>
              <a:tblGrid>
                <a:gridCol w="1082772">
                  <a:extLst>
                    <a:ext uri="{9D8B030D-6E8A-4147-A177-3AD203B41FA5}">
                      <a16:colId xmlns:a16="http://schemas.microsoft.com/office/drawing/2014/main" val="3707532038"/>
                    </a:ext>
                  </a:extLst>
                </a:gridCol>
                <a:gridCol w="1180065">
                  <a:extLst>
                    <a:ext uri="{9D8B030D-6E8A-4147-A177-3AD203B41FA5}">
                      <a16:colId xmlns:a16="http://schemas.microsoft.com/office/drawing/2014/main" val="2732629588"/>
                    </a:ext>
                  </a:extLst>
                </a:gridCol>
                <a:gridCol w="765786">
                  <a:extLst>
                    <a:ext uri="{9D8B030D-6E8A-4147-A177-3AD203B41FA5}">
                      <a16:colId xmlns:a16="http://schemas.microsoft.com/office/drawing/2014/main" val="1620263981"/>
                    </a:ext>
                  </a:extLst>
                </a:gridCol>
                <a:gridCol w="1067080">
                  <a:extLst>
                    <a:ext uri="{9D8B030D-6E8A-4147-A177-3AD203B41FA5}">
                      <a16:colId xmlns:a16="http://schemas.microsoft.com/office/drawing/2014/main" val="4245468651"/>
                    </a:ext>
                  </a:extLst>
                </a:gridCol>
                <a:gridCol w="5523706">
                  <a:extLst>
                    <a:ext uri="{9D8B030D-6E8A-4147-A177-3AD203B41FA5}">
                      <a16:colId xmlns:a16="http://schemas.microsoft.com/office/drawing/2014/main" val="4211079420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메타데이터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20699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제목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119751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설명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언어 필요하면 영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국문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318677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키워드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7711652"/>
                  </a:ext>
                </a:extLst>
              </a:tr>
              <a:tr h="4144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Type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유형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오디오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텍스트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영상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등 </a:t>
                      </a:r>
                      <a:b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기준에 따라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Dropdown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값 주고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 입력하도록 함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5314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Format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파일 형식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자동식별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DataON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스키마 코드 따름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93761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라이선스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CCL /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학술지가 정책적으로 선택하게 하면 이걸 따르도록 함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64027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저자명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투고 시 입력 값 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00208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저자 소속기관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투고 시 입력 값 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13057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논문명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투고 시 입력 값 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248602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논문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DOI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JR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동시 활용 학술지만 가능할 것으로 보임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583970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관련 과제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투고 시 입력 값 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15290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담당자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교신저자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516914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제출자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ACOMS+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870194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출판자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학회명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연계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학회명 없을 경우 학술지명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32169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언어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9103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82691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77268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기타사항</a:t>
                      </a: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418" marR="9418" marT="941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458016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주제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옵션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DataON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은 과학기술분류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ACOMS+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는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X,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부분 향후 추가 검토예정 </a:t>
                      </a:r>
                    </a:p>
                  </a:txBody>
                  <a:tcPr marL="9418" marR="9418" marT="941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740461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E25C536-B161-4771-B32A-5F433214A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4C94F-4A77-40EE-85CD-223E2D0E6ABE}"/>
              </a:ext>
            </a:extLst>
          </p:cNvPr>
          <p:cNvSpPr txBox="1"/>
          <p:nvPr/>
        </p:nvSpPr>
        <p:spPr>
          <a:xfrm>
            <a:off x="1424940" y="5425440"/>
            <a:ext cx="950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“</a:t>
            </a:r>
            <a:r>
              <a:rPr lang="ko-KR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저널 정보</a:t>
            </a:r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”</a:t>
            </a:r>
            <a:r>
              <a:rPr lang="ko-KR" altLang="en-US" dirty="0">
                <a:solidFill>
                  <a:srgbClr val="00B0F0"/>
                </a:solidFill>
                <a:highlight>
                  <a:srgbClr val="FFFF00"/>
                </a:highlight>
              </a:rPr>
              <a:t> 추가 수집과 해외 글로벌 사이트에서 저널 단위 연구데이터 표시 사례 확인 중</a:t>
            </a:r>
            <a:r>
              <a:rPr lang="en-US" altLang="ko-KR" dirty="0">
                <a:solidFill>
                  <a:srgbClr val="00B0F0"/>
                </a:solidFill>
                <a:highlight>
                  <a:srgbClr val="FFFF00"/>
                </a:highlight>
              </a:rPr>
              <a:t>.</a:t>
            </a:r>
            <a:endParaRPr lang="ko-KR" altLang="en-US" dirty="0">
              <a:solidFill>
                <a:srgbClr val="00B0F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12996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4E995F-A571-4E7C-B187-3639BF224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ACOMS+</a:t>
            </a:r>
            <a:r>
              <a:rPr lang="ko-KR" altLang="en-US" dirty="0"/>
              <a:t>연계 작업 테스트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B86AB-98B9-4E03-85BA-2FAC7682B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5475"/>
            <a:ext cx="5257800" cy="4810124"/>
          </a:xfrm>
          <a:ln>
            <a:solidFill>
              <a:schemeClr val="accent1"/>
            </a:solidFill>
          </a:ln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0B050"/>
                </a:solidFill>
              </a:rPr>
              <a:t>1. </a:t>
            </a:r>
            <a:r>
              <a:rPr lang="ko-KR" altLang="en-US" dirty="0">
                <a:solidFill>
                  <a:srgbClr val="00B050"/>
                </a:solidFill>
              </a:rPr>
              <a:t>메타데이터 형식</a:t>
            </a:r>
            <a:r>
              <a:rPr lang="en-US" altLang="ko-KR" dirty="0">
                <a:solidFill>
                  <a:srgbClr val="00B050"/>
                </a:solidFill>
              </a:rPr>
              <a:t>(</a:t>
            </a:r>
            <a:r>
              <a:rPr lang="ko-KR" altLang="en-US" dirty="0">
                <a:solidFill>
                  <a:srgbClr val="00B050"/>
                </a:solidFill>
              </a:rPr>
              <a:t>구조</a:t>
            </a:r>
            <a:r>
              <a:rPr lang="en-US" altLang="ko-KR" dirty="0">
                <a:solidFill>
                  <a:srgbClr val="00B050"/>
                </a:solidFill>
              </a:rPr>
              <a:t>)</a:t>
            </a:r>
            <a:r>
              <a:rPr lang="ko-KR" altLang="en-US" dirty="0">
                <a:solidFill>
                  <a:srgbClr val="00B050"/>
                </a:solidFill>
              </a:rPr>
              <a:t> 작성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엑셀로 연계 메타데이터 정의 내용을 시스템으로 옮김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0B050"/>
                </a:solidFill>
              </a:rPr>
              <a:t>2. </a:t>
            </a:r>
            <a:r>
              <a:rPr lang="ko-KR" altLang="en-US" dirty="0">
                <a:solidFill>
                  <a:srgbClr val="00B050"/>
                </a:solidFill>
              </a:rPr>
              <a:t>메타데이터 형식 확인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2"/>
                </a:solidFill>
              </a:rPr>
              <a:t>metadata.xml </a:t>
            </a:r>
            <a:r>
              <a:rPr lang="ko-KR" altLang="en-US" dirty="0">
                <a:solidFill>
                  <a:schemeClr val="accent2"/>
                </a:solidFill>
              </a:rPr>
              <a:t>형식</a:t>
            </a:r>
            <a:r>
              <a:rPr lang="en-US" altLang="ko-KR" dirty="0">
                <a:solidFill>
                  <a:schemeClr val="accent2"/>
                </a:solidFill>
              </a:rPr>
              <a:t>(</a:t>
            </a:r>
            <a:r>
              <a:rPr lang="ko-KR" altLang="en-US" dirty="0">
                <a:solidFill>
                  <a:schemeClr val="accent2"/>
                </a:solidFill>
              </a:rPr>
              <a:t>구조</a:t>
            </a:r>
            <a:r>
              <a:rPr lang="en-US" altLang="ko-KR" dirty="0">
                <a:solidFill>
                  <a:schemeClr val="accent2"/>
                </a:solidFill>
              </a:rPr>
              <a:t>)</a:t>
            </a:r>
            <a:r>
              <a:rPr lang="ko-KR" altLang="en-US" dirty="0">
                <a:solidFill>
                  <a:schemeClr val="accent2"/>
                </a:solidFill>
              </a:rPr>
              <a:t> 획득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GET /</a:t>
            </a:r>
            <a:r>
              <a:rPr lang="en-US" altLang="ko-KR" dirty="0" err="1"/>
              <a:t>openapi</a:t>
            </a:r>
            <a:r>
              <a:rPr lang="en-US" altLang="ko-KR" dirty="0"/>
              <a:t>/</a:t>
            </a:r>
            <a:r>
              <a:rPr lang="en-US" altLang="ko-KR" dirty="0" err="1"/>
              <a:t>submit?key</a:t>
            </a:r>
            <a:r>
              <a:rPr lang="en-US" altLang="ko-KR" dirty="0"/>
              <a:t>={</a:t>
            </a:r>
            <a:r>
              <a:rPr lang="en-US" altLang="ko-KR" dirty="0" err="1"/>
              <a:t>openapi</a:t>
            </a:r>
            <a:r>
              <a:rPr lang="en-US" altLang="ko-KR" dirty="0"/>
              <a:t>-key}&amp;schema={schema-name}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curl -XGET –G https://{DataON-</a:t>
            </a:r>
            <a:r>
              <a:rPr lang="ko-KR" altLang="en-US" dirty="0" err="1">
                <a:solidFill>
                  <a:schemeClr val="accent1"/>
                </a:solidFill>
              </a:rPr>
              <a:t>리포지터리</a:t>
            </a:r>
            <a:r>
              <a:rPr lang="en-US" altLang="ko-KR" dirty="0">
                <a:solidFill>
                  <a:schemeClr val="accent1"/>
                </a:solidFill>
              </a:rPr>
              <a:t>}/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/submit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-d key={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-key}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--data-</a:t>
            </a:r>
            <a:r>
              <a:rPr lang="en-US" altLang="ko-KR" dirty="0" err="1">
                <a:solidFill>
                  <a:schemeClr val="accent1"/>
                </a:solidFill>
              </a:rPr>
              <a:t>urlencode</a:t>
            </a:r>
            <a:r>
              <a:rPr lang="en-US" altLang="ko-KR" dirty="0">
                <a:solidFill>
                  <a:schemeClr val="accent1"/>
                </a:solidFill>
              </a:rPr>
              <a:t> schema=</a:t>
            </a:r>
            <a:r>
              <a:rPr lang="ko-KR" altLang="en-US" dirty="0">
                <a:solidFill>
                  <a:schemeClr val="accent1"/>
                </a:solidFill>
              </a:rPr>
              <a:t>스키마이름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2100" dirty="0">
                <a:solidFill>
                  <a:schemeClr val="accent2"/>
                </a:solidFill>
              </a:rPr>
              <a:t>* </a:t>
            </a:r>
            <a:r>
              <a:rPr lang="en-US" altLang="ko-KR" sz="2100" dirty="0" err="1">
                <a:solidFill>
                  <a:schemeClr val="accent2"/>
                </a:solidFill>
              </a:rPr>
              <a:t>DataON</a:t>
            </a:r>
            <a:r>
              <a:rPr lang="en-US" altLang="ko-KR" sz="2100" dirty="0">
                <a:solidFill>
                  <a:schemeClr val="accent2"/>
                </a:solidFill>
              </a:rPr>
              <a:t>-</a:t>
            </a:r>
            <a:r>
              <a:rPr lang="ko-KR" altLang="en-US" sz="2100" dirty="0" err="1">
                <a:solidFill>
                  <a:schemeClr val="accent2"/>
                </a:solidFill>
              </a:rPr>
              <a:t>리포지터리</a:t>
            </a:r>
            <a:r>
              <a:rPr lang="ko-KR" altLang="en-US" sz="2100" dirty="0">
                <a:solidFill>
                  <a:schemeClr val="accent2"/>
                </a:solidFill>
              </a:rPr>
              <a:t> </a:t>
            </a:r>
            <a:r>
              <a:rPr lang="en-US" altLang="ko-KR" sz="2100" dirty="0">
                <a:solidFill>
                  <a:schemeClr val="accent2"/>
                </a:solidFill>
              </a:rPr>
              <a:t>= http://NaRDA-IP/dr/</a:t>
            </a:r>
            <a:br>
              <a:rPr lang="en-US" altLang="ko-KR" sz="2100" dirty="0">
                <a:solidFill>
                  <a:schemeClr val="accent2"/>
                </a:solidFill>
              </a:rPr>
            </a:br>
            <a:r>
              <a:rPr lang="ko-KR" altLang="en-US" sz="2100" dirty="0">
                <a:solidFill>
                  <a:schemeClr val="accent2"/>
                </a:solidFill>
              </a:rPr>
              <a:t>                                </a:t>
            </a:r>
            <a:r>
              <a:rPr lang="en-US" altLang="ko-KR" sz="2100" dirty="0">
                <a:solidFill>
                  <a:schemeClr val="accent2"/>
                </a:solidFill>
              </a:rPr>
              <a:t>http://10.150.0.12:80/dr/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100" dirty="0">
                <a:solidFill>
                  <a:schemeClr val="accent2"/>
                </a:solidFill>
              </a:rPr>
              <a:t>* {</a:t>
            </a:r>
            <a:r>
              <a:rPr lang="en-US" altLang="ko-KR" sz="2100" dirty="0" err="1">
                <a:solidFill>
                  <a:schemeClr val="accent2"/>
                </a:solidFill>
              </a:rPr>
              <a:t>openapi</a:t>
            </a:r>
            <a:r>
              <a:rPr lang="en-US" altLang="ko-KR" sz="2100" dirty="0">
                <a:solidFill>
                  <a:schemeClr val="accent2"/>
                </a:solidFill>
              </a:rPr>
              <a:t>-key} = </a:t>
            </a:r>
            <a:r>
              <a:rPr lang="en-US" altLang="ko-KR" sz="2100" dirty="0" err="1">
                <a:solidFill>
                  <a:schemeClr val="accent2"/>
                </a:solidFill>
              </a:rPr>
              <a:t>DataON</a:t>
            </a:r>
            <a:r>
              <a:rPr lang="en-US" altLang="ko-KR" sz="2100" dirty="0">
                <a:solidFill>
                  <a:schemeClr val="accent2"/>
                </a:solidFill>
              </a:rPr>
              <a:t> </a:t>
            </a:r>
            <a:r>
              <a:rPr lang="en-US" altLang="ko-KR" sz="2100" dirty="0" err="1">
                <a:solidFill>
                  <a:schemeClr val="accent2"/>
                </a:solidFill>
              </a:rPr>
              <a:t>openapi</a:t>
            </a:r>
            <a:r>
              <a:rPr lang="en-US" altLang="ko-KR" sz="2100" dirty="0">
                <a:solidFill>
                  <a:schemeClr val="accent2"/>
                </a:solidFill>
              </a:rPr>
              <a:t> </a:t>
            </a:r>
            <a:r>
              <a:rPr lang="ko-KR" altLang="en-US" sz="2100" dirty="0">
                <a:solidFill>
                  <a:schemeClr val="accent2"/>
                </a:solidFill>
              </a:rPr>
              <a:t>사용 등록 신청  </a:t>
            </a:r>
            <a:r>
              <a:rPr lang="en-US" altLang="ko-KR" sz="2100" dirty="0">
                <a:solidFill>
                  <a:schemeClr val="accent2"/>
                </a:solidFill>
              </a:rPr>
              <a:t>key </a:t>
            </a:r>
            <a:r>
              <a:rPr lang="ko-KR" altLang="en-US" sz="2100" dirty="0">
                <a:solidFill>
                  <a:schemeClr val="accent2"/>
                </a:solidFill>
              </a:rPr>
              <a:t>발급</a:t>
            </a:r>
          </a:p>
          <a:p>
            <a:pPr marL="0" indent="0">
              <a:lnSpc>
                <a:spcPct val="120000"/>
              </a:lnSpc>
              <a:buNone/>
            </a:pPr>
            <a:endParaRPr lang="ko-KR" alt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0B050"/>
                </a:solidFill>
              </a:rPr>
              <a:t>3. </a:t>
            </a:r>
            <a:r>
              <a:rPr lang="ko-KR" altLang="en-US" dirty="0">
                <a:solidFill>
                  <a:srgbClr val="00B050"/>
                </a:solidFill>
              </a:rPr>
              <a:t>연구데이터 제출 </a:t>
            </a:r>
            <a:r>
              <a:rPr lang="en-US" altLang="ko-KR" sz="2100" dirty="0">
                <a:solidFill>
                  <a:schemeClr val="accent2"/>
                </a:solidFill>
              </a:rPr>
              <a:t>(</a:t>
            </a:r>
            <a:r>
              <a:rPr lang="ko-KR" altLang="en-US" sz="2100" dirty="0">
                <a:solidFill>
                  <a:schemeClr val="accent2"/>
                </a:solidFill>
              </a:rPr>
              <a:t>결과 응답에서</a:t>
            </a:r>
            <a:r>
              <a:rPr lang="en-US" altLang="ko-KR" sz="2100" dirty="0">
                <a:solidFill>
                  <a:schemeClr val="accent2"/>
                </a:solidFill>
              </a:rPr>
              <a:t>,</a:t>
            </a:r>
            <a:r>
              <a:rPr lang="ko-KR" altLang="en-US" sz="2100" dirty="0">
                <a:solidFill>
                  <a:schemeClr val="accent2"/>
                </a:solidFill>
              </a:rPr>
              <a:t> 등록 </a:t>
            </a:r>
            <a:r>
              <a:rPr lang="en-US" altLang="ko-KR" sz="2100" u="sng" dirty="0">
                <a:solidFill>
                  <a:schemeClr val="accent2"/>
                </a:solidFill>
                <a:highlight>
                  <a:srgbClr val="FFFF00"/>
                </a:highlight>
              </a:rPr>
              <a:t>data</a:t>
            </a:r>
            <a:r>
              <a:rPr lang="ko-KR" altLang="en-US" sz="2100" u="sng" dirty="0">
                <a:solidFill>
                  <a:schemeClr val="accent2"/>
                </a:solidFill>
                <a:highlight>
                  <a:srgbClr val="FFFF00"/>
                </a:highlight>
              </a:rPr>
              <a:t>의 </a:t>
            </a:r>
            <a:r>
              <a:rPr lang="en-US" altLang="ko-KR" sz="2100" u="sng" dirty="0">
                <a:solidFill>
                  <a:schemeClr val="accent2"/>
                </a:solidFill>
                <a:highlight>
                  <a:srgbClr val="FFFF00"/>
                </a:highlight>
              </a:rPr>
              <a:t>id </a:t>
            </a:r>
            <a:r>
              <a:rPr lang="ko-KR" altLang="en-US" sz="2100" u="sng" dirty="0">
                <a:solidFill>
                  <a:schemeClr val="accent2"/>
                </a:solidFill>
                <a:highlight>
                  <a:srgbClr val="FFFF00"/>
                </a:highlight>
              </a:rPr>
              <a:t>알려줌</a:t>
            </a:r>
            <a:r>
              <a:rPr lang="en-US" altLang="ko-KR" sz="2100" dirty="0">
                <a:solidFill>
                  <a:schemeClr val="accent2"/>
                </a:solidFill>
              </a:rPr>
              <a:t>)</a:t>
            </a:r>
            <a:endParaRPr lang="ko-KR" altLang="en-US" sz="2100" dirty="0">
              <a:solidFill>
                <a:schemeClr val="accent2"/>
              </a:solidFill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POST /</a:t>
            </a:r>
            <a:r>
              <a:rPr lang="en-US" altLang="ko-KR" dirty="0" err="1"/>
              <a:t>openapi</a:t>
            </a:r>
            <a:r>
              <a:rPr lang="en-US" altLang="ko-KR" dirty="0"/>
              <a:t>/submit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8F67CC1-23C6-4C08-AFCA-D8104C003E8F}"/>
              </a:ext>
            </a:extLst>
          </p:cNvPr>
          <p:cNvSpPr txBox="1">
            <a:spLocks/>
          </p:cNvSpPr>
          <p:nvPr/>
        </p:nvSpPr>
        <p:spPr>
          <a:xfrm>
            <a:off x="6305550" y="1895475"/>
            <a:ext cx="5391149" cy="481012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curl https://{DataON-</a:t>
            </a:r>
            <a:r>
              <a:rPr lang="ko-KR" altLang="en-US" dirty="0" err="1">
                <a:solidFill>
                  <a:schemeClr val="accent1"/>
                </a:solidFill>
              </a:rPr>
              <a:t>리포지터리</a:t>
            </a:r>
            <a:r>
              <a:rPr lang="en-US" altLang="ko-KR" dirty="0">
                <a:solidFill>
                  <a:schemeClr val="accent1"/>
                </a:solidFill>
              </a:rPr>
              <a:t>}/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/submit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key={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-key}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collection={collection-id}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submit=true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schema=</a:t>
            </a:r>
            <a:r>
              <a:rPr lang="ko-KR" altLang="en-US" dirty="0">
                <a:solidFill>
                  <a:schemeClr val="accent1"/>
                </a:solidFill>
              </a:rPr>
              <a:t>스키마이름 </a:t>
            </a:r>
            <a:r>
              <a:rPr lang="en-US" altLang="ko-KR" dirty="0">
                <a:solidFill>
                  <a:schemeClr val="accent1"/>
                </a:solidFill>
              </a:rPr>
              <a:t>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‘metadata=@./metadata.xml</a:t>
            </a:r>
            <a:r>
              <a:rPr lang="ko-KR" altLang="en-US" dirty="0">
                <a:solidFill>
                  <a:schemeClr val="accent1"/>
                </a:solidFill>
              </a:rPr>
              <a:t>’</a:t>
            </a:r>
            <a:r>
              <a:rPr lang="en-US" altLang="ko-KR" dirty="0">
                <a:solidFill>
                  <a:schemeClr val="accent1"/>
                </a:solidFill>
              </a:rPr>
              <a:t> \</a:t>
            </a:r>
            <a:r>
              <a:rPr lang="ko-KR" altLang="en-US" dirty="0">
                <a:solidFill>
                  <a:schemeClr val="accent1"/>
                </a:solidFill>
              </a:rPr>
              <a:t>  </a:t>
            </a:r>
            <a:r>
              <a:rPr lang="en-US" altLang="ko-KR" dirty="0">
                <a:solidFill>
                  <a:schemeClr val="accent2"/>
                </a:solidFill>
              </a:rPr>
              <a:t>#</a:t>
            </a:r>
            <a:r>
              <a:rPr lang="ko-KR" altLang="en-US" dirty="0">
                <a:solidFill>
                  <a:schemeClr val="accent2"/>
                </a:solidFill>
              </a:rPr>
              <a:t> 데이터가 담김</a:t>
            </a:r>
            <a:r>
              <a:rPr lang="en-US" altLang="ko-KR" dirty="0">
                <a:solidFill>
                  <a:schemeClr val="accent2"/>
                </a:solidFill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‘file=@./</a:t>
            </a:r>
            <a:r>
              <a:rPr lang="ko-KR" altLang="en-US" dirty="0">
                <a:solidFill>
                  <a:schemeClr val="accent1"/>
                </a:solidFill>
              </a:rPr>
              <a:t>첨부파일</a:t>
            </a:r>
            <a:r>
              <a:rPr lang="en-US" altLang="ko-KR" dirty="0">
                <a:solidFill>
                  <a:schemeClr val="accent1"/>
                </a:solidFill>
              </a:rPr>
              <a:t>1.zip’ \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-F ‘file=@./</a:t>
            </a:r>
            <a:r>
              <a:rPr lang="ko-KR" altLang="en-US" dirty="0">
                <a:solidFill>
                  <a:schemeClr val="accent1"/>
                </a:solidFill>
              </a:rPr>
              <a:t>첨부파일</a:t>
            </a:r>
            <a:r>
              <a:rPr lang="en-US" altLang="ko-KR" dirty="0">
                <a:solidFill>
                  <a:schemeClr val="accent1"/>
                </a:solidFill>
              </a:rPr>
              <a:t>2.xls’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rgbClr val="00B050"/>
                </a:solidFill>
              </a:rPr>
              <a:t>4. </a:t>
            </a:r>
            <a:r>
              <a:rPr lang="ko-KR" altLang="en-US" dirty="0">
                <a:solidFill>
                  <a:srgbClr val="00B050"/>
                </a:solidFill>
              </a:rPr>
              <a:t>공개데이터 조회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dirty="0"/>
              <a:t>아래의 요청에 대한 응답으로 </a:t>
            </a:r>
            <a:r>
              <a:rPr lang="en-US" altLang="ko-KR" dirty="0" err="1"/>
              <a:t>doi</a:t>
            </a:r>
            <a:r>
              <a:rPr lang="en-US" altLang="ko-KR" dirty="0"/>
              <a:t> </a:t>
            </a:r>
            <a:r>
              <a:rPr lang="ko-KR" altLang="en-US" dirty="0"/>
              <a:t>정보 확인</a:t>
            </a:r>
            <a:endParaRPr lang="en-US" altLang="ko-KR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/>
              <a:t>GET /</a:t>
            </a:r>
            <a:r>
              <a:rPr lang="en-US" altLang="ko-KR" dirty="0" err="1"/>
              <a:t>openapi</a:t>
            </a:r>
            <a:r>
              <a:rPr lang="en-US" altLang="ko-KR" dirty="0"/>
              <a:t>/data/{id}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dirty="0">
                <a:solidFill>
                  <a:schemeClr val="accent1"/>
                </a:solidFill>
              </a:rPr>
              <a:t>curl https://{DataON-</a:t>
            </a:r>
            <a:r>
              <a:rPr lang="ko-KR" altLang="en-US" dirty="0" err="1">
                <a:solidFill>
                  <a:schemeClr val="accent1"/>
                </a:solidFill>
              </a:rPr>
              <a:t>리포지터리</a:t>
            </a:r>
            <a:r>
              <a:rPr lang="en-US" altLang="ko-KR" dirty="0">
                <a:solidFill>
                  <a:schemeClr val="accent1"/>
                </a:solidFill>
              </a:rPr>
              <a:t>}/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/data/{data-id}?key={</a:t>
            </a:r>
            <a:r>
              <a:rPr lang="en-US" altLang="ko-KR" dirty="0" err="1">
                <a:solidFill>
                  <a:schemeClr val="accent1"/>
                </a:solidFill>
              </a:rPr>
              <a:t>openapi</a:t>
            </a:r>
            <a:r>
              <a:rPr lang="en-US" altLang="ko-KR" dirty="0">
                <a:solidFill>
                  <a:schemeClr val="accent1"/>
                </a:solidFill>
              </a:rPr>
              <a:t>-key}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500" dirty="0">
                <a:solidFill>
                  <a:schemeClr val="accent2"/>
                </a:solidFill>
              </a:rPr>
              <a:t>{data-id} = 3. </a:t>
            </a:r>
            <a:r>
              <a:rPr lang="ko-KR" altLang="en-US" sz="2500" dirty="0">
                <a:solidFill>
                  <a:schemeClr val="accent2"/>
                </a:solidFill>
              </a:rPr>
              <a:t>연구데이터 제출 과정에서</a:t>
            </a:r>
            <a:r>
              <a:rPr lang="en-US" altLang="ko-KR" sz="2500" dirty="0">
                <a:solidFill>
                  <a:schemeClr val="accent2"/>
                </a:solidFill>
              </a:rPr>
              <a:t>, data </a:t>
            </a:r>
            <a:r>
              <a:rPr lang="ko-KR" altLang="en-US" sz="2500" dirty="0">
                <a:solidFill>
                  <a:schemeClr val="accent2"/>
                </a:solidFill>
              </a:rPr>
              <a:t>의 </a:t>
            </a:r>
            <a:r>
              <a:rPr lang="en-US" altLang="ko-KR" sz="2500" dirty="0">
                <a:solidFill>
                  <a:schemeClr val="accent2"/>
                </a:solidFill>
              </a:rPr>
              <a:t>id </a:t>
            </a:r>
            <a:r>
              <a:rPr lang="ko-KR" altLang="en-US" sz="2500" dirty="0">
                <a:solidFill>
                  <a:schemeClr val="accent2"/>
                </a:solidFill>
              </a:rPr>
              <a:t>를 응답으로 받음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30B97A8-EDB9-428C-A053-86AC0621E424}"/>
              </a:ext>
            </a:extLst>
          </p:cNvPr>
          <p:cNvSpPr/>
          <p:nvPr/>
        </p:nvSpPr>
        <p:spPr>
          <a:xfrm>
            <a:off x="755649" y="1456293"/>
            <a:ext cx="109410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정의한 메타데이터를 서버</a:t>
            </a:r>
            <a:r>
              <a:rPr lang="en-US" altLang="ko-KR" dirty="0"/>
              <a:t>(</a:t>
            </a:r>
            <a:r>
              <a:rPr lang="ko-KR" altLang="en-US" dirty="0"/>
              <a:t>개발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chemeClr val="accent2"/>
                </a:solidFill>
              </a:rPr>
              <a:t>컬렉션</a:t>
            </a:r>
            <a:r>
              <a:rPr lang="ko-KR" altLang="en-US" dirty="0"/>
              <a:t>과 </a:t>
            </a:r>
            <a:r>
              <a:rPr lang="ko-KR" altLang="en-US" dirty="0">
                <a:solidFill>
                  <a:schemeClr val="accent2"/>
                </a:solidFill>
              </a:rPr>
              <a:t>데이터구조</a:t>
            </a:r>
            <a:r>
              <a:rPr lang="ko-KR" altLang="en-US" dirty="0"/>
              <a:t> 생성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 err="1">
                <a:solidFill>
                  <a:schemeClr val="accent2"/>
                </a:solidFill>
              </a:rPr>
              <a:t>OpenAPI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키 연결 </a:t>
            </a:r>
            <a:r>
              <a:rPr lang="ko-KR" altLang="en-US" dirty="0"/>
              <a:t>후</a:t>
            </a:r>
            <a:r>
              <a:rPr lang="en-US" altLang="ko-KR" dirty="0"/>
              <a:t>,</a:t>
            </a:r>
            <a:r>
              <a:rPr lang="ko-KR" altLang="en-US" dirty="0"/>
              <a:t> 테스트 가능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C1D221-7114-42CB-A0FB-ABE4B201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FBA02B-B182-460A-823A-F2BBE66890BF}"/>
              </a:ext>
            </a:extLst>
          </p:cNvPr>
          <p:cNvSpPr txBox="1"/>
          <p:nvPr/>
        </p:nvSpPr>
        <p:spPr>
          <a:xfrm>
            <a:off x="8610600" y="843240"/>
            <a:ext cx="27678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>
                <a:solidFill>
                  <a:schemeClr val="accent2"/>
                </a:solidFill>
              </a:rPr>
              <a:t>NaRDA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 err="1">
                <a:solidFill>
                  <a:schemeClr val="accent2"/>
                </a:solidFill>
              </a:rPr>
              <a:t>OpenAPI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관리</a:t>
            </a:r>
            <a:endParaRPr lang="en-US" altLang="ko-KR" dirty="0">
              <a:solidFill>
                <a:schemeClr val="accent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accent2"/>
                </a:solidFill>
              </a:rPr>
              <a:t>연계 인터페이스 관리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72E847B9-7C14-4107-9493-D76C4F098804}"/>
              </a:ext>
            </a:extLst>
          </p:cNvPr>
          <p:cNvSpPr/>
          <p:nvPr/>
        </p:nvSpPr>
        <p:spPr>
          <a:xfrm>
            <a:off x="6896100" y="1386443"/>
            <a:ext cx="1981200" cy="493156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F7327D2-712F-481F-80FF-49127E30536A}"/>
              </a:ext>
            </a:extLst>
          </p:cNvPr>
          <p:cNvCxnSpPr>
            <a:cxnSpLocks/>
            <a:stCxn id="7" idx="1"/>
            <a:endCxn id="8" idx="0"/>
          </p:cNvCxnSpPr>
          <p:nvPr/>
        </p:nvCxnSpPr>
        <p:spPr>
          <a:xfrm flipH="1">
            <a:off x="7886700" y="1166406"/>
            <a:ext cx="723900" cy="2200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5B67CBF-EEEF-4610-B073-ED0C577751AD}"/>
              </a:ext>
            </a:extLst>
          </p:cNvPr>
          <p:cNvSpPr txBox="1"/>
          <p:nvPr/>
        </p:nvSpPr>
        <p:spPr>
          <a:xfrm>
            <a:off x="9066337" y="2923937"/>
            <a:ext cx="107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 ACOMS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08EF402-70FC-4254-A1B0-794AFB303504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8341745" y="2781857"/>
            <a:ext cx="724592" cy="326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533A2DD-F8FD-404F-8FE9-877F4C4CEAAD}"/>
              </a:ext>
            </a:extLst>
          </p:cNvPr>
          <p:cNvCxnSpPr>
            <a:stCxn id="11" idx="1"/>
          </p:cNvCxnSpPr>
          <p:nvPr/>
        </p:nvCxnSpPr>
        <p:spPr>
          <a:xfrm flipH="1">
            <a:off x="8091577" y="3108603"/>
            <a:ext cx="974760" cy="1391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A6C513A-7E3F-442E-BDF0-7037169ACA2C}"/>
              </a:ext>
            </a:extLst>
          </p:cNvPr>
          <p:cNvSpPr txBox="1"/>
          <p:nvPr/>
        </p:nvSpPr>
        <p:spPr>
          <a:xfrm>
            <a:off x="4813514" y="3993612"/>
            <a:ext cx="1072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2"/>
                </a:solidFill>
              </a:rPr>
              <a:t> ACOMS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D6C94AB2-BCAA-40DC-B717-20DAFFE03B85}"/>
              </a:ext>
            </a:extLst>
          </p:cNvPr>
          <p:cNvCxnSpPr/>
          <p:nvPr/>
        </p:nvCxnSpPr>
        <p:spPr>
          <a:xfrm flipH="1">
            <a:off x="3769743" y="4157932"/>
            <a:ext cx="1043771" cy="1380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5959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A412B4-9903-474E-A598-5A5094D1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20694C-2BD1-45E5-AF09-7EC771DA7975}"/>
              </a:ext>
            </a:extLst>
          </p:cNvPr>
          <p:cNvSpPr/>
          <p:nvPr/>
        </p:nvSpPr>
        <p:spPr>
          <a:xfrm>
            <a:off x="457201" y="1910933"/>
            <a:ext cx="3625849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dirty="0"/>
              <a:t>&lt;?</a:t>
            </a:r>
            <a:r>
              <a:rPr lang="ko-KR" altLang="en-US" sz="800" dirty="0" err="1"/>
              <a:t>xml</a:t>
            </a:r>
            <a:r>
              <a:rPr lang="ko-KR" altLang="en-US" sz="800" dirty="0"/>
              <a:t> </a:t>
            </a:r>
            <a:r>
              <a:rPr lang="ko-KR" altLang="en-US" sz="800" dirty="0" err="1"/>
              <a:t>version</a:t>
            </a:r>
            <a:r>
              <a:rPr lang="ko-KR" altLang="en-US" sz="800" dirty="0"/>
              <a:t>='1.0' </a:t>
            </a:r>
            <a:r>
              <a:rPr lang="ko-KR" altLang="en-US" sz="800" dirty="0" err="1"/>
              <a:t>encoding</a:t>
            </a:r>
            <a:r>
              <a:rPr lang="ko-KR" altLang="en-US" sz="800" dirty="0"/>
              <a:t>='UTF-8'?&gt;</a:t>
            </a:r>
          </a:p>
          <a:p>
            <a:r>
              <a:rPr lang="ko-KR" altLang="en-US" sz="800" dirty="0"/>
              <a:t>&lt;</a:t>
            </a:r>
            <a:r>
              <a:rPr lang="ko-KR" altLang="en-US" sz="800" dirty="0" err="1"/>
              <a:t>records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&lt;!-- 반입할 데이터 건수만큼 </a:t>
            </a:r>
            <a:r>
              <a:rPr lang="ko-KR" altLang="en-US" sz="800" dirty="0" err="1"/>
              <a:t>record</a:t>
            </a:r>
            <a:r>
              <a:rPr lang="ko-KR" altLang="en-US" sz="800" dirty="0"/>
              <a:t> </a:t>
            </a:r>
            <a:r>
              <a:rPr lang="ko-KR" altLang="en-US" sz="800" dirty="0" err="1"/>
              <a:t>를</a:t>
            </a:r>
            <a:r>
              <a:rPr lang="ko-KR" altLang="en-US" sz="800" dirty="0"/>
              <a:t> </a:t>
            </a:r>
            <a:r>
              <a:rPr lang="ko-KR" altLang="en-US" sz="800" dirty="0" err="1"/>
              <a:t>반복사용하십시오</a:t>
            </a:r>
            <a:r>
              <a:rPr lang="ko-KR" altLang="en-US" sz="800" dirty="0"/>
              <a:t> --&gt;</a:t>
            </a:r>
          </a:p>
          <a:p>
            <a:r>
              <a:rPr lang="ko-KR" altLang="en-US" sz="800" dirty="0"/>
              <a:t>  &lt;!-- 필수/반복 속성을 확인하십시오 --&gt;</a:t>
            </a:r>
          </a:p>
          <a:p>
            <a:r>
              <a:rPr lang="ko-KR" altLang="en-US" sz="800" dirty="0"/>
              <a:t>  &lt;</a:t>
            </a:r>
            <a:r>
              <a:rPr lang="ko-KR" altLang="en-US" sz="800" dirty="0" err="1"/>
              <a:t>record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&lt;</a:t>
            </a:r>
            <a:r>
              <a:rPr lang="ko-KR" altLang="en-US" sz="800" dirty="0" err="1"/>
              <a:t>metadata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Title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="제목" 필수="예"&gt;</a:t>
            </a:r>
          </a:p>
          <a:p>
            <a:r>
              <a:rPr lang="ko-KR" altLang="en-US" sz="800" dirty="0"/>
              <a:t>        &lt;!-- 제목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Title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="데이터 설명"&gt;</a:t>
            </a:r>
          </a:p>
          <a:p>
            <a:r>
              <a:rPr lang="ko-KR" altLang="en-US" sz="800" dirty="0"/>
              <a:t>        &lt;!-- 데이터 설명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Keywords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="키워드" 필수="예" 반복="예"&gt;</a:t>
            </a:r>
          </a:p>
          <a:p>
            <a:r>
              <a:rPr lang="ko-KR" altLang="en-US" sz="800" dirty="0"/>
              <a:t>        &lt;!-- 키워드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Keywords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Type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="파일 유형" 필수="예"&gt;</a:t>
            </a:r>
          </a:p>
          <a:p>
            <a:r>
              <a:rPr lang="ko-KR" altLang="en-US" sz="800" dirty="0"/>
              <a:t>        &lt;!-- 파일 유형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Type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Format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="파일형식" 필수="예"&gt;</a:t>
            </a:r>
          </a:p>
          <a:p>
            <a:r>
              <a:rPr lang="ko-KR" altLang="en-US" sz="800" dirty="0"/>
              <a:t>        &lt;!-- 파일형식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Format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Rights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="라이선스" 필수="예"&gt;</a:t>
            </a:r>
          </a:p>
          <a:p>
            <a:r>
              <a:rPr lang="ko-KR" altLang="en-US" sz="800" dirty="0"/>
              <a:t>        &lt;!-- 라이선스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Rights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Authors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="저자명" 필수="예" 반복="예"&gt;</a:t>
            </a:r>
          </a:p>
          <a:p>
            <a:r>
              <a:rPr lang="ko-KR" altLang="en-US" sz="800" dirty="0"/>
              <a:t>        &lt;!-- 저자명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Authors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Affiliation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="소속기관" 필수="예" 반복="예"&gt;</a:t>
            </a:r>
          </a:p>
          <a:p>
            <a:r>
              <a:rPr lang="ko-KR" altLang="en-US" sz="800" dirty="0"/>
              <a:t>        &lt;!-- 소속기관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Affiliation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ArticleTitle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="논문제목" 필수="예"&gt;</a:t>
            </a:r>
          </a:p>
          <a:p>
            <a:endParaRPr lang="ko-KR" altLang="en-US" sz="8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09CF55-6F05-40D2-A829-A3038738035B}"/>
              </a:ext>
            </a:extLst>
          </p:cNvPr>
          <p:cNvSpPr/>
          <p:nvPr/>
        </p:nvSpPr>
        <p:spPr>
          <a:xfrm>
            <a:off x="4375150" y="1914625"/>
            <a:ext cx="3733802" cy="4031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800" dirty="0"/>
              <a:t>&lt;!-- 논문제목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ArticleTitle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&lt;DOI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="DOI" 형식="</a:t>
            </a:r>
            <a:r>
              <a:rPr lang="ko-KR" altLang="en-US" sz="800" dirty="0" err="1"/>
              <a:t>url</a:t>
            </a:r>
            <a:r>
              <a:rPr lang="ko-KR" altLang="en-US" sz="800" dirty="0"/>
              <a:t>"&gt;</a:t>
            </a:r>
          </a:p>
          <a:p>
            <a:r>
              <a:rPr lang="ko-KR" altLang="en-US" sz="800" dirty="0"/>
              <a:t>        &lt;!-- DOI --&gt;</a:t>
            </a:r>
          </a:p>
          <a:p>
            <a:r>
              <a:rPr lang="ko-KR" altLang="en-US" sz="800" dirty="0"/>
              <a:t>      &lt;/DOI&gt;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Acknowledgement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="관련과제"&gt;</a:t>
            </a:r>
          </a:p>
          <a:p>
            <a:r>
              <a:rPr lang="ko-KR" altLang="en-US" sz="800" dirty="0"/>
              <a:t>        &lt;!-- 관련과제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Acknowledgement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CorrespondingAuthor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="교신저자" 필수="예"&gt;</a:t>
            </a:r>
          </a:p>
          <a:p>
            <a:r>
              <a:rPr lang="ko-KR" altLang="en-US" sz="800" dirty="0"/>
              <a:t>        &lt;!-- 교신저자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CorrespondingAuthor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Submitter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="제출자" 필수="예"&gt;</a:t>
            </a:r>
          </a:p>
          <a:p>
            <a:r>
              <a:rPr lang="ko-KR" altLang="en-US" sz="800" dirty="0"/>
              <a:t>        &lt;!-- 무조건 ACOMS+ 로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Submitter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&lt;Publisher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="출판사" 필수="예"&gt;</a:t>
            </a:r>
          </a:p>
          <a:p>
            <a:r>
              <a:rPr lang="ko-KR" altLang="en-US" sz="800" dirty="0"/>
              <a:t>        &lt;!-- 출판사 --&gt;</a:t>
            </a:r>
          </a:p>
          <a:p>
            <a:r>
              <a:rPr lang="ko-KR" altLang="en-US" sz="800" dirty="0"/>
              <a:t>      &lt;/Publisher&gt;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Language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="언어" 필수="예" 선택항목="</a:t>
            </a:r>
            <a:r>
              <a:rPr lang="ko-KR" altLang="en-US" sz="800" dirty="0" err="1"/>
              <a:t>lang</a:t>
            </a:r>
            <a:r>
              <a:rPr lang="ko-KR" altLang="en-US" sz="800" dirty="0"/>
              <a:t>" 형식="</a:t>
            </a:r>
            <a:r>
              <a:rPr lang="ko-KR" altLang="en-US" sz="800" dirty="0" err="1"/>
              <a:t>select</a:t>
            </a:r>
            <a:r>
              <a:rPr lang="ko-KR" altLang="en-US" sz="800" dirty="0"/>
              <a:t>"&gt;</a:t>
            </a:r>
          </a:p>
          <a:p>
            <a:r>
              <a:rPr lang="ko-KR" altLang="en-US" sz="800" dirty="0"/>
              <a:t>        &lt;!-- 언어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Language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&lt;/</a:t>
            </a:r>
            <a:r>
              <a:rPr lang="ko-KR" altLang="en-US" sz="800" dirty="0" err="1"/>
              <a:t>metadata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&lt;</a:t>
            </a:r>
            <a:r>
              <a:rPr lang="ko-KR" altLang="en-US" sz="800" dirty="0" err="1"/>
              <a:t>bundle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file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="데이터 파일" 반복="예"&gt;</a:t>
            </a:r>
          </a:p>
          <a:p>
            <a:r>
              <a:rPr lang="ko-KR" altLang="en-US" sz="800" dirty="0"/>
              <a:t>        &lt;!-- 파일명을 입력합니다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file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  &lt;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 </a:t>
            </a:r>
            <a:r>
              <a:rPr lang="ko-KR" altLang="en-US" sz="800" dirty="0" err="1"/>
              <a:t>필드명</a:t>
            </a:r>
            <a:r>
              <a:rPr lang="ko-KR" altLang="en-US" sz="800" dirty="0"/>
              <a:t>="파일설명"&gt;</a:t>
            </a:r>
          </a:p>
          <a:p>
            <a:r>
              <a:rPr lang="ko-KR" altLang="en-US" sz="800" dirty="0"/>
              <a:t>        &lt;!-- 파일에 대한 설명 --&gt;</a:t>
            </a:r>
          </a:p>
          <a:p>
            <a:r>
              <a:rPr lang="ko-KR" altLang="en-US" sz="800" dirty="0"/>
              <a:t>      &lt;/</a:t>
            </a:r>
            <a:r>
              <a:rPr lang="ko-KR" altLang="en-US" sz="800" dirty="0" err="1"/>
              <a:t>description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    &lt;/</a:t>
            </a:r>
            <a:r>
              <a:rPr lang="ko-KR" altLang="en-US" sz="800" dirty="0" err="1"/>
              <a:t>bundle</a:t>
            </a:r>
            <a:r>
              <a:rPr lang="ko-KR" altLang="en-US" sz="800" dirty="0"/>
              <a:t>&gt;</a:t>
            </a:r>
            <a:endParaRPr lang="en-US" altLang="ko-KR" sz="800" dirty="0"/>
          </a:p>
          <a:p>
            <a:r>
              <a:rPr lang="en-US" altLang="ko-KR" sz="800" dirty="0"/>
              <a:t> </a:t>
            </a:r>
            <a:r>
              <a:rPr lang="ko-KR" altLang="en-US" sz="800" dirty="0"/>
              <a:t>   </a:t>
            </a:r>
            <a:r>
              <a:rPr lang="en-US" altLang="ko-KR" sz="800" dirty="0">
                <a:highlight>
                  <a:srgbClr val="00FF00"/>
                </a:highlight>
              </a:rPr>
              <a:t>&lt;</a:t>
            </a:r>
            <a:r>
              <a:rPr lang="en-US" altLang="ko-KR" sz="800" dirty="0" err="1">
                <a:highlight>
                  <a:srgbClr val="00FF00"/>
                </a:highlight>
              </a:rPr>
              <a:t>registerDoi</a:t>
            </a:r>
            <a:r>
              <a:rPr lang="en-US" altLang="ko-KR" sz="800" dirty="0">
                <a:highlight>
                  <a:srgbClr val="00FF00"/>
                </a:highlight>
              </a:rPr>
              <a:t>&gt;true&lt;/</a:t>
            </a:r>
            <a:r>
              <a:rPr lang="en-US" altLang="ko-KR" sz="800" dirty="0" err="1">
                <a:highlight>
                  <a:srgbClr val="00FF00"/>
                </a:highlight>
              </a:rPr>
              <a:t>registerDoi</a:t>
            </a:r>
            <a:r>
              <a:rPr lang="en-US" altLang="ko-KR" sz="800" dirty="0">
                <a:highlight>
                  <a:srgbClr val="00FF00"/>
                </a:highlight>
              </a:rPr>
              <a:t>&gt;</a:t>
            </a:r>
            <a:endParaRPr lang="ko-KR" altLang="en-US" sz="800" dirty="0">
              <a:highlight>
                <a:srgbClr val="00FF00"/>
              </a:highlight>
            </a:endParaRPr>
          </a:p>
          <a:p>
            <a:r>
              <a:rPr lang="ko-KR" altLang="en-US" sz="800" dirty="0"/>
              <a:t>  &lt;/</a:t>
            </a:r>
            <a:r>
              <a:rPr lang="ko-KR" altLang="en-US" sz="800" dirty="0" err="1"/>
              <a:t>record</a:t>
            </a:r>
            <a:r>
              <a:rPr lang="ko-KR" altLang="en-US" sz="800" dirty="0"/>
              <a:t>&gt;</a:t>
            </a:r>
          </a:p>
          <a:p>
            <a:r>
              <a:rPr lang="ko-KR" altLang="en-US" sz="800" dirty="0"/>
              <a:t>&lt;/</a:t>
            </a:r>
            <a:r>
              <a:rPr lang="ko-KR" altLang="en-US" sz="800" dirty="0" err="1"/>
              <a:t>records</a:t>
            </a:r>
            <a:r>
              <a:rPr lang="ko-KR" altLang="en-US" sz="800" dirty="0"/>
              <a:t>&gt;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73612D9-214B-4CC4-A088-2C812D573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/>
              <a:t>ACOMS+</a:t>
            </a:r>
            <a:r>
              <a:rPr lang="ko-KR" altLang="en-US" dirty="0"/>
              <a:t>연계 메타형식 </a:t>
            </a:r>
            <a:r>
              <a:rPr lang="en-US" altLang="ko-KR" dirty="0"/>
              <a:t>XML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32914E-12E5-4E88-9DB6-F362EC2464CE}"/>
              </a:ext>
            </a:extLst>
          </p:cNvPr>
          <p:cNvSpPr/>
          <p:nvPr/>
        </p:nvSpPr>
        <p:spPr>
          <a:xfrm>
            <a:off x="8401052" y="2131298"/>
            <a:ext cx="3530598" cy="11695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https://dataon.kisti.re.kr/dr/openapi/submit</a:t>
            </a:r>
          </a:p>
          <a:p>
            <a:r>
              <a:rPr lang="ko-KR" altLang="en-US" sz="1000" dirty="0"/>
              <a:t>?</a:t>
            </a:r>
            <a:r>
              <a:rPr lang="ko-KR" altLang="en-US" sz="1000" dirty="0" err="1"/>
              <a:t>key</a:t>
            </a:r>
            <a:r>
              <a:rPr lang="ko-KR" altLang="en-US" sz="1000" dirty="0"/>
              <a:t>=</a:t>
            </a:r>
            <a:r>
              <a:rPr lang="en-US" altLang="ko-KR" sz="1000" dirty="0"/>
              <a:t>{</a:t>
            </a:r>
            <a:r>
              <a:rPr lang="en-US" altLang="ko-KR" sz="1000" dirty="0" err="1"/>
              <a:t>openapi</a:t>
            </a:r>
            <a:r>
              <a:rPr lang="en-US" altLang="ko-KR" sz="1000" dirty="0"/>
              <a:t>-key} </a:t>
            </a:r>
            <a:endParaRPr lang="ko-KR" altLang="en-US" sz="1000" dirty="0"/>
          </a:p>
          <a:p>
            <a:r>
              <a:rPr lang="ko-KR" altLang="en-US" sz="1000" dirty="0"/>
              <a:t>&amp;</a:t>
            </a:r>
            <a:r>
              <a:rPr lang="ko-KR" altLang="en-US" sz="1000" dirty="0" err="1"/>
              <a:t>collection</a:t>
            </a:r>
            <a:r>
              <a:rPr lang="ko-KR" altLang="en-US" sz="1000" dirty="0"/>
              <a:t>=ACOMS</a:t>
            </a:r>
          </a:p>
          <a:p>
            <a:r>
              <a:rPr lang="ko-KR" altLang="en-US" sz="1000" dirty="0"/>
              <a:t>&amp;</a:t>
            </a:r>
            <a:r>
              <a:rPr lang="ko-KR" altLang="en-US" sz="1000" dirty="0" err="1"/>
              <a:t>submit</a:t>
            </a:r>
            <a:r>
              <a:rPr lang="ko-KR" altLang="en-US" sz="1000" dirty="0"/>
              <a:t>=</a:t>
            </a:r>
            <a:r>
              <a:rPr lang="ko-KR" altLang="en-US" sz="1000" dirty="0" err="1"/>
              <a:t>true</a:t>
            </a:r>
            <a:endParaRPr lang="ko-KR" altLang="en-US" sz="1000" dirty="0"/>
          </a:p>
          <a:p>
            <a:r>
              <a:rPr lang="ko-KR" altLang="en-US" sz="1000" dirty="0"/>
              <a:t>&amp;</a:t>
            </a:r>
            <a:r>
              <a:rPr lang="ko-KR" altLang="en-US" sz="1000" dirty="0" err="1"/>
              <a:t>schema</a:t>
            </a:r>
            <a:r>
              <a:rPr lang="ko-KR" altLang="en-US" sz="1000" dirty="0"/>
              <a:t>=ACOMS</a:t>
            </a:r>
          </a:p>
          <a:p>
            <a:r>
              <a:rPr lang="ko-KR" altLang="en-US" sz="1000" dirty="0"/>
              <a:t>&amp;</a:t>
            </a:r>
            <a:r>
              <a:rPr lang="ko-KR" altLang="en-US" sz="1000" dirty="0" err="1"/>
              <a:t>metadata</a:t>
            </a:r>
            <a:r>
              <a:rPr lang="ko-KR" altLang="en-US" sz="1000" dirty="0"/>
              <a:t>={</a:t>
            </a:r>
            <a:r>
              <a:rPr lang="ko-KR" altLang="en-US" sz="1000" dirty="0" err="1">
                <a:highlight>
                  <a:srgbClr val="FFFF00"/>
                </a:highlight>
              </a:rPr>
              <a:t>metadata.xml</a:t>
            </a:r>
            <a:r>
              <a:rPr lang="ko-KR" altLang="en-US" sz="1000" dirty="0"/>
              <a:t>}</a:t>
            </a:r>
          </a:p>
          <a:p>
            <a:r>
              <a:rPr lang="ko-KR" altLang="en-US" sz="1000" dirty="0"/>
              <a:t>&amp;</a:t>
            </a:r>
            <a:r>
              <a:rPr lang="ko-KR" altLang="en-US" sz="1000" dirty="0" err="1"/>
              <a:t>file</a:t>
            </a:r>
            <a:r>
              <a:rPr lang="ko-KR" altLang="en-US" sz="1000" dirty="0"/>
              <a:t>={</a:t>
            </a:r>
            <a:r>
              <a:rPr lang="ko-KR" altLang="en-US" sz="1000" dirty="0" err="1">
                <a:solidFill>
                  <a:schemeClr val="accent2"/>
                </a:solidFill>
                <a:highlight>
                  <a:srgbClr val="FFFF00"/>
                </a:highlight>
              </a:rPr>
              <a:t>file.zip</a:t>
            </a:r>
            <a:r>
              <a:rPr lang="ko-KR" altLang="en-US" sz="1000" dirty="0"/>
              <a:t>}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EC69B3-AF01-46BD-85D0-CE0EBC21AB40}"/>
              </a:ext>
            </a:extLst>
          </p:cNvPr>
          <p:cNvSpPr/>
          <p:nvPr/>
        </p:nvSpPr>
        <p:spPr>
          <a:xfrm>
            <a:off x="8401053" y="3950890"/>
            <a:ext cx="3530598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000" dirty="0"/>
              <a:t>[{"id":"</a:t>
            </a:r>
            <a:r>
              <a:rPr lang="en-US" altLang="ko-KR" sz="1000" dirty="0">
                <a:solidFill>
                  <a:schemeClr val="accent2"/>
                </a:solidFill>
              </a:rPr>
              <a:t>c4b8cf9c-d904-4121-8ea9-7bbad246b97b</a:t>
            </a:r>
            <a:r>
              <a:rPr lang="en-US" altLang="ko-KR" sz="1000" dirty="0"/>
              <a:t>","title":null,"status":"archived","submitter":"</a:t>
            </a:r>
            <a:r>
              <a:rPr lang="ko-KR" altLang="en-US" sz="1000" dirty="0" err="1"/>
              <a:t>나주현</a:t>
            </a:r>
            <a:r>
              <a:rPr lang="en-US" altLang="ko-KR" sz="1000" dirty="0"/>
              <a:t>","collection":{"id":"08913940-6e8f-46bc-a9cd-7db7499a4842","name":"ACOMS","title":"ACOMS","description":"DataON_</a:t>
            </a:r>
            <a:r>
              <a:rPr lang="ko-KR" altLang="en-US" sz="1000" dirty="0"/>
              <a:t>테스트 논문 제목</a:t>
            </a:r>
            <a:r>
              <a:rPr lang="en-US" altLang="ko-KR" sz="1000" dirty="0"/>
              <a:t>","</a:t>
            </a:r>
            <a:r>
              <a:rPr lang="en-US" altLang="ko-KR" sz="1000" dirty="0" err="1"/>
              <a:t>collectionPath</a:t>
            </a:r>
            <a:r>
              <a:rPr lang="en-US" altLang="ko-KR" sz="1000" dirty="0"/>
              <a:t>":"/08913940-6e8f-46bc-a9cd-7db7499a4842","lastModified":"2023-12-11T09:52:44.458+00:00"}}]</a:t>
            </a:r>
            <a:endParaRPr lang="ko-KR" altLang="en-US" sz="10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A1DA723-1B4F-4185-86F8-05120C7D32BC}"/>
              </a:ext>
            </a:extLst>
          </p:cNvPr>
          <p:cNvSpPr/>
          <p:nvPr/>
        </p:nvSpPr>
        <p:spPr>
          <a:xfrm>
            <a:off x="8401053" y="5491659"/>
            <a:ext cx="3530598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/>
              <a:t>전송 후</a:t>
            </a:r>
            <a:r>
              <a:rPr lang="en-US" altLang="ko-KR" sz="1000" dirty="0"/>
              <a:t>,</a:t>
            </a:r>
            <a:r>
              <a:rPr lang="ko-KR" altLang="en-US" sz="1000" dirty="0"/>
              <a:t> </a:t>
            </a:r>
            <a:r>
              <a:rPr lang="en-US" altLang="ko-KR" sz="1000" dirty="0"/>
              <a:t>id</a:t>
            </a:r>
            <a:r>
              <a:rPr lang="ko-KR" altLang="en-US" sz="1000" dirty="0"/>
              <a:t>값만 </a:t>
            </a:r>
            <a:r>
              <a:rPr lang="en-US" altLang="ko-KR" sz="1000" dirty="0"/>
              <a:t>article </a:t>
            </a:r>
            <a:r>
              <a:rPr lang="ko-KR" altLang="en-US" sz="1000" dirty="0"/>
              <a:t>테이블에 저장하고 있음</a:t>
            </a:r>
            <a:r>
              <a:rPr lang="en-US" altLang="ko-KR" sz="10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b="1" dirty="0">
                <a:solidFill>
                  <a:schemeClr val="accent2"/>
                </a:solidFill>
              </a:rPr>
              <a:t>다시 </a:t>
            </a:r>
            <a:r>
              <a:rPr lang="en-US" altLang="ko-KR" sz="1000" b="1" dirty="0">
                <a:solidFill>
                  <a:schemeClr val="accent2"/>
                </a:solidFill>
              </a:rPr>
              <a:t>id </a:t>
            </a:r>
            <a:r>
              <a:rPr lang="ko-KR" altLang="en-US" sz="1000" b="1" dirty="0">
                <a:solidFill>
                  <a:schemeClr val="accent2"/>
                </a:solidFill>
              </a:rPr>
              <a:t>값으로 조회하면 </a:t>
            </a:r>
            <a:r>
              <a:rPr lang="en-US" altLang="ko-KR" sz="1000" b="1" dirty="0">
                <a:solidFill>
                  <a:schemeClr val="accent2"/>
                </a:solidFill>
              </a:rPr>
              <a:t>DOI</a:t>
            </a:r>
            <a:r>
              <a:rPr lang="ko-KR" altLang="en-US" sz="1000" b="1" dirty="0">
                <a:solidFill>
                  <a:schemeClr val="accent2"/>
                </a:solidFill>
              </a:rPr>
              <a:t> 획득 가능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0E21C3F-65D8-4F36-81BD-AFF78A8C771C}"/>
              </a:ext>
            </a:extLst>
          </p:cNvPr>
          <p:cNvSpPr/>
          <p:nvPr/>
        </p:nvSpPr>
        <p:spPr>
          <a:xfrm>
            <a:off x="8283757" y="1761966"/>
            <a:ext cx="21114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DataON</a:t>
            </a:r>
            <a:r>
              <a:rPr lang="ko-KR" altLang="en-US" dirty="0"/>
              <a:t> 등록 전송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895053-E7E3-44DE-B343-90023F2D248A}"/>
              </a:ext>
            </a:extLst>
          </p:cNvPr>
          <p:cNvSpPr/>
          <p:nvPr/>
        </p:nvSpPr>
        <p:spPr>
          <a:xfrm>
            <a:off x="8401052" y="3548894"/>
            <a:ext cx="26548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DataON</a:t>
            </a:r>
            <a:r>
              <a:rPr lang="ko-KR" altLang="en-US" dirty="0"/>
              <a:t> 등록 결과 응답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4793F771-C250-4C7C-B982-8516DA5788C7}"/>
              </a:ext>
            </a:extLst>
          </p:cNvPr>
          <p:cNvCxnSpPr/>
          <p:nvPr/>
        </p:nvCxnSpPr>
        <p:spPr>
          <a:xfrm flipH="1" flipV="1">
            <a:off x="5915608" y="5617029"/>
            <a:ext cx="684245" cy="541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50E05C-0B51-48E7-B936-35DA92A58C2B}"/>
              </a:ext>
            </a:extLst>
          </p:cNvPr>
          <p:cNvSpPr txBox="1"/>
          <p:nvPr/>
        </p:nvSpPr>
        <p:spPr>
          <a:xfrm>
            <a:off x="5449081" y="6189307"/>
            <a:ext cx="291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데이터의 </a:t>
            </a:r>
            <a:r>
              <a:rPr lang="en-US" altLang="ko-KR" dirty="0"/>
              <a:t>DOI</a:t>
            </a:r>
            <a:r>
              <a:rPr lang="ko-KR" altLang="en-US" dirty="0"/>
              <a:t>를 발급 요청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FC24E48-6207-49D6-8F8C-121DE64931F3}"/>
              </a:ext>
            </a:extLst>
          </p:cNvPr>
          <p:cNvSpPr/>
          <p:nvPr/>
        </p:nvSpPr>
        <p:spPr>
          <a:xfrm>
            <a:off x="8749781" y="3083050"/>
            <a:ext cx="748782" cy="207783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607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9D910F2-8013-41D5-BE9F-B33C870EE2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0863"/>
            <a:ext cx="9933233" cy="6290612"/>
          </a:xfrm>
          <a:ln>
            <a:solidFill>
              <a:schemeClr val="accent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491375-31A7-4C6A-B522-A4D5B3DA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99998A5-74AE-4D48-A255-0ADA4333A869}"/>
              </a:ext>
            </a:extLst>
          </p:cNvPr>
          <p:cNvSpPr/>
          <p:nvPr/>
        </p:nvSpPr>
        <p:spPr>
          <a:xfrm>
            <a:off x="1420567" y="3460750"/>
            <a:ext cx="990600" cy="23494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FB1E4D9-A486-47BD-A022-D1183D6344C6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2349500" y="2280682"/>
            <a:ext cx="2530922" cy="1180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DF6BB70-697C-43A0-8C81-6676877FA920}"/>
              </a:ext>
            </a:extLst>
          </p:cNvPr>
          <p:cNvSpPr txBox="1"/>
          <p:nvPr/>
        </p:nvSpPr>
        <p:spPr>
          <a:xfrm>
            <a:off x="3619500" y="1911350"/>
            <a:ext cx="2521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발급 받은 데이터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DOI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261615D-7585-427C-8179-79C34527C9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345" y="1003550"/>
            <a:ext cx="4338272" cy="542358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06FE975-92C2-4F09-94C3-C66137BBF680}"/>
              </a:ext>
            </a:extLst>
          </p:cNvPr>
          <p:cNvCxnSpPr>
            <a:stCxn id="9" idx="6"/>
            <a:endCxn id="14" idx="1"/>
          </p:cNvCxnSpPr>
          <p:nvPr/>
        </p:nvCxnSpPr>
        <p:spPr>
          <a:xfrm>
            <a:off x="2411167" y="3578225"/>
            <a:ext cx="4313178" cy="137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CD1404A-DB8B-46D4-B7CC-FC3AFA4BDFCB}"/>
              </a:ext>
            </a:extLst>
          </p:cNvPr>
          <p:cNvSpPr txBox="1"/>
          <p:nvPr/>
        </p:nvSpPr>
        <p:spPr>
          <a:xfrm>
            <a:off x="7900309" y="1542018"/>
            <a:ext cx="142058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accent2">
                    <a:lumMod val="75000"/>
                  </a:schemeClr>
                </a:solidFill>
              </a:rPr>
              <a:t>도착 페이지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2458839-4054-4A2A-8DFB-31A24769BB92}"/>
              </a:ext>
            </a:extLst>
          </p:cNvPr>
          <p:cNvCxnSpPr/>
          <p:nvPr/>
        </p:nvCxnSpPr>
        <p:spPr>
          <a:xfrm flipH="1">
            <a:off x="10352326" y="2870716"/>
            <a:ext cx="1001474" cy="7054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B1395BB-75F1-4885-8114-B498DCA5E67F}"/>
              </a:ext>
            </a:extLst>
          </p:cNvPr>
          <p:cNvCxnSpPr/>
          <p:nvPr/>
        </p:nvCxnSpPr>
        <p:spPr>
          <a:xfrm flipH="1">
            <a:off x="2635250" y="2870716"/>
            <a:ext cx="8718550" cy="2641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B934678-0267-4AA0-8738-8D4409AC4031}"/>
              </a:ext>
            </a:extLst>
          </p:cNvPr>
          <p:cNvSpPr txBox="1"/>
          <p:nvPr/>
        </p:nvSpPr>
        <p:spPr>
          <a:xfrm>
            <a:off x="11125950" y="2224385"/>
            <a:ext cx="746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2">
                    <a:lumMod val="75000"/>
                  </a:schemeClr>
                </a:solidFill>
              </a:rPr>
              <a:t>논문 </a:t>
            </a:r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DOI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FD20749-AB52-4CF8-9558-BB943AD2B416}"/>
              </a:ext>
            </a:extLst>
          </p:cNvPr>
          <p:cNvSpPr/>
          <p:nvPr/>
        </p:nvSpPr>
        <p:spPr>
          <a:xfrm>
            <a:off x="2411166" y="411813"/>
            <a:ext cx="4650033" cy="23494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74EE3D-F36C-44B4-88DB-33AE3BA8831F}"/>
              </a:ext>
            </a:extLst>
          </p:cNvPr>
          <p:cNvSpPr/>
          <p:nvPr/>
        </p:nvSpPr>
        <p:spPr>
          <a:xfrm>
            <a:off x="3922569" y="652500"/>
            <a:ext cx="2887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rgbClr val="00B050"/>
                </a:solidFill>
              </a:rPr>
              <a:t>등록 데이터 조회 </a:t>
            </a:r>
            <a:r>
              <a:rPr lang="en-US" altLang="ko-KR" dirty="0">
                <a:solidFill>
                  <a:srgbClr val="00B050"/>
                </a:solidFill>
              </a:rPr>
              <a:t>API</a:t>
            </a:r>
            <a:r>
              <a:rPr lang="ko-KR" altLang="en-US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URL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1079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624D692-DDF7-4150-BA6C-866287A31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" y="1828800"/>
            <a:ext cx="7499350" cy="274667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011DB04-D620-4F84-87ED-48B3830BC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데이터 컬렉션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963132-17BF-4369-9E21-CDDC4BCD1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25"/>
            <a:ext cx="10515600" cy="422275"/>
          </a:xfrm>
        </p:spPr>
        <p:txBody>
          <a:bodyPr>
            <a:normAutofit/>
          </a:bodyPr>
          <a:lstStyle/>
          <a:p>
            <a:r>
              <a:rPr lang="ko-KR" altLang="en-US" sz="1600" dirty="0"/>
              <a:t>컬렉션 관리에서 컬렉션 생성 </a:t>
            </a:r>
            <a:r>
              <a:rPr lang="en-US" altLang="ko-KR" sz="1600" dirty="0"/>
              <a:t>ACOMS+ </a:t>
            </a:r>
            <a:r>
              <a:rPr lang="ko-KR" altLang="en-US" sz="1600" dirty="0"/>
              <a:t>설명 및 담당자 설정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E549D0A-086A-46E6-9481-D4F2FC54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536A35D-AC04-42D1-8CE7-16733AF54ED5}"/>
              </a:ext>
            </a:extLst>
          </p:cNvPr>
          <p:cNvSpPr/>
          <p:nvPr/>
        </p:nvSpPr>
        <p:spPr>
          <a:xfrm>
            <a:off x="8312149" y="136525"/>
            <a:ext cx="3749675" cy="3333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DataON</a:t>
            </a:r>
            <a:r>
              <a:rPr lang="en-US" altLang="ko-KR" sz="1600" dirty="0"/>
              <a:t> </a:t>
            </a:r>
            <a:r>
              <a:rPr lang="ko-KR" altLang="en-US" sz="1600" dirty="0"/>
              <a:t>연구데이터 </a:t>
            </a:r>
            <a:r>
              <a:rPr lang="ko-KR" altLang="en-US" sz="1600" dirty="0" err="1"/>
              <a:t>레포지터리</a:t>
            </a:r>
            <a:r>
              <a:rPr lang="ko-KR" altLang="en-US" sz="1600" dirty="0"/>
              <a:t> 작업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9FC6BDC-B110-4DD0-A6BC-8BBCE50035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1" y="3241853"/>
            <a:ext cx="7308850" cy="35170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D9F8199-3FD1-4C12-BA72-C496B65F6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552" y="1870253"/>
            <a:ext cx="5955272" cy="4249056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742EA54-29F6-421B-854B-2473FE129770}"/>
              </a:ext>
            </a:extLst>
          </p:cNvPr>
          <p:cNvCxnSpPr>
            <a:cxnSpLocks/>
          </p:cNvCxnSpPr>
          <p:nvPr/>
        </p:nvCxnSpPr>
        <p:spPr>
          <a:xfrm flipV="1">
            <a:off x="5187950" y="3241854"/>
            <a:ext cx="918602" cy="3204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BC00DB0-7733-4DD8-9B58-9EBF437571CE}"/>
              </a:ext>
            </a:extLst>
          </p:cNvPr>
          <p:cNvCxnSpPr>
            <a:endCxn id="9" idx="0"/>
          </p:cNvCxnSpPr>
          <p:nvPr/>
        </p:nvCxnSpPr>
        <p:spPr>
          <a:xfrm>
            <a:off x="1897576" y="2895600"/>
            <a:ext cx="2982400" cy="3462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0369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F1661-ECA3-4078-88BF-91343B8E3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메타데이터 형식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  <a:r>
              <a:rPr lang="ko-KR" altLang="en-US" dirty="0"/>
              <a:t>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01F07A-0F15-443F-8B6B-56F5B0214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750" y="1455737"/>
            <a:ext cx="5600700" cy="7397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1000" dirty="0"/>
              <a:t>컬렉션에 전송할 </a:t>
            </a:r>
            <a:r>
              <a:rPr lang="en-US" altLang="ko-KR" sz="1000" dirty="0"/>
              <a:t>ACOMS </a:t>
            </a:r>
            <a:r>
              <a:rPr lang="ko-KR" altLang="en-US" sz="1000" dirty="0"/>
              <a:t>메타데이터 형식</a:t>
            </a:r>
            <a:r>
              <a:rPr lang="en-US" altLang="ko-KR" sz="1000" dirty="0"/>
              <a:t>(</a:t>
            </a:r>
            <a:r>
              <a:rPr lang="ko-KR" altLang="en-US" sz="1000" dirty="0"/>
              <a:t>구조</a:t>
            </a:r>
            <a:r>
              <a:rPr lang="en-US" altLang="ko-KR" sz="1000" dirty="0"/>
              <a:t>)</a:t>
            </a:r>
            <a:r>
              <a:rPr lang="ko-KR" altLang="en-US" sz="1000" dirty="0"/>
              <a:t> 생성</a:t>
            </a:r>
            <a:r>
              <a:rPr lang="en-US" altLang="ko-KR" sz="1000" dirty="0"/>
              <a:t> (ACOMS+</a:t>
            </a:r>
            <a:r>
              <a:rPr lang="ko-KR" altLang="en-US" sz="1000" dirty="0"/>
              <a:t> </a:t>
            </a:r>
            <a:r>
              <a:rPr lang="en-US" altLang="ko-KR" sz="1000" dirty="0">
                <a:sym typeface="Wingdings" panose="05000000000000000000" pitchFamily="2" charset="2"/>
              </a:rPr>
              <a:t></a:t>
            </a:r>
            <a:r>
              <a:rPr lang="ko-KR" altLang="en-US" sz="1000" dirty="0"/>
              <a:t> </a:t>
            </a:r>
            <a:r>
              <a:rPr lang="en-US" altLang="ko-KR" sz="1000" dirty="0" err="1"/>
              <a:t>DataON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0C03D1A-923A-4C99-976C-B35182840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E9479E6-0349-4048-ADD8-BD83C429B3E0}"/>
              </a:ext>
            </a:extLst>
          </p:cNvPr>
          <p:cNvSpPr/>
          <p:nvPr/>
        </p:nvSpPr>
        <p:spPr>
          <a:xfrm>
            <a:off x="8312149" y="136525"/>
            <a:ext cx="3749675" cy="3333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DataON</a:t>
            </a:r>
            <a:r>
              <a:rPr lang="en-US" altLang="ko-KR" sz="1600" dirty="0"/>
              <a:t> </a:t>
            </a:r>
            <a:r>
              <a:rPr lang="ko-KR" altLang="en-US" sz="1600" dirty="0"/>
              <a:t>연구데이터 </a:t>
            </a:r>
            <a:r>
              <a:rPr lang="ko-KR" altLang="en-US" sz="1600" dirty="0" err="1"/>
              <a:t>레포지터리</a:t>
            </a:r>
            <a:r>
              <a:rPr lang="ko-KR" altLang="en-US" sz="1600" dirty="0"/>
              <a:t> 작업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5088A75-066C-4A5E-AF7A-11D9633F8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825625"/>
            <a:ext cx="7271928" cy="47132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2A0033-BCB7-43DF-86C4-A4AA01519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62" y="1825624"/>
            <a:ext cx="7707262" cy="4909420"/>
          </a:xfrm>
          <a:prstGeom prst="rect">
            <a:avLst/>
          </a:prstGeom>
          <a:ln w="3175">
            <a:solidFill>
              <a:schemeClr val="accent1"/>
            </a:solidFill>
          </a:ln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21F784C4-33CA-47D7-8CE6-AB414118421B}"/>
              </a:ext>
            </a:extLst>
          </p:cNvPr>
          <p:cNvSpPr/>
          <p:nvPr/>
        </p:nvSpPr>
        <p:spPr>
          <a:xfrm>
            <a:off x="1987550" y="3232150"/>
            <a:ext cx="641350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A0BFAC-F5BB-4D05-A3B5-405F0CECD663}"/>
              </a:ext>
            </a:extLst>
          </p:cNvPr>
          <p:cNvCxnSpPr>
            <a:stCxn id="9" idx="6"/>
            <a:endCxn id="8" idx="1"/>
          </p:cNvCxnSpPr>
          <p:nvPr/>
        </p:nvCxnSpPr>
        <p:spPr>
          <a:xfrm>
            <a:off x="2628900" y="3362325"/>
            <a:ext cx="1725662" cy="918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714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84693-B4E1-46A3-818C-139677A77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</a:t>
            </a:r>
            <a:r>
              <a:rPr lang="ko-KR" altLang="en-US" dirty="0"/>
              <a:t> 컬렉션과 메타데이터 형식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 </a:t>
            </a:r>
            <a:r>
              <a:rPr lang="ko-KR" altLang="en-US" dirty="0"/>
              <a:t>연결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010888-44FA-4C33-A31A-61D870D6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F233137-93D7-4B36-BEB3-293BC93DC0BA}"/>
              </a:ext>
            </a:extLst>
          </p:cNvPr>
          <p:cNvSpPr/>
          <p:nvPr/>
        </p:nvSpPr>
        <p:spPr>
          <a:xfrm>
            <a:off x="8312149" y="136525"/>
            <a:ext cx="3749675" cy="3333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DataON</a:t>
            </a:r>
            <a:r>
              <a:rPr lang="en-US" altLang="ko-KR" sz="1600" dirty="0"/>
              <a:t> </a:t>
            </a:r>
            <a:r>
              <a:rPr lang="ko-KR" altLang="en-US" sz="1600" dirty="0"/>
              <a:t>연구데이터 </a:t>
            </a:r>
            <a:r>
              <a:rPr lang="ko-KR" altLang="en-US" sz="1600" dirty="0" err="1"/>
              <a:t>레포지터리</a:t>
            </a:r>
            <a:r>
              <a:rPr lang="ko-KR" altLang="en-US" sz="1600" dirty="0"/>
              <a:t> 작업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5DABA05-70CB-420D-BEAD-5CF5C5333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49" y="2286577"/>
            <a:ext cx="8496823" cy="4434898"/>
          </a:xfrm>
          <a:prstGeom prst="rect">
            <a:avLst/>
          </a:prstGeom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C677D578-0596-40FB-BFFD-4CBCCCC0097E}"/>
              </a:ext>
            </a:extLst>
          </p:cNvPr>
          <p:cNvSpPr/>
          <p:nvPr/>
        </p:nvSpPr>
        <p:spPr>
          <a:xfrm>
            <a:off x="3949700" y="4352926"/>
            <a:ext cx="552450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1EEBB74-69FF-4BD0-9F29-4630C38B0BDB}"/>
              </a:ext>
            </a:extLst>
          </p:cNvPr>
          <p:cNvSpPr/>
          <p:nvPr/>
        </p:nvSpPr>
        <p:spPr>
          <a:xfrm>
            <a:off x="3232150" y="6175376"/>
            <a:ext cx="349251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C0A17E3-B403-4E61-9EAF-93B77D608AA6}"/>
              </a:ext>
            </a:extLst>
          </p:cNvPr>
          <p:cNvSpPr/>
          <p:nvPr/>
        </p:nvSpPr>
        <p:spPr>
          <a:xfrm>
            <a:off x="9493250" y="6096000"/>
            <a:ext cx="552450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3482945-9DB8-4488-9EC6-83FCC2843BFA}"/>
              </a:ext>
            </a:extLst>
          </p:cNvPr>
          <p:cNvCxnSpPr>
            <a:cxnSpLocks/>
            <a:stCxn id="9" idx="0"/>
          </p:cNvCxnSpPr>
          <p:nvPr/>
        </p:nvCxnSpPr>
        <p:spPr>
          <a:xfrm flipH="1" flipV="1">
            <a:off x="7791450" y="3721100"/>
            <a:ext cx="1978025" cy="2374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F6EB2179-E792-4B12-BDFA-A4CBEC82D1DA}"/>
              </a:ext>
            </a:extLst>
          </p:cNvPr>
          <p:cNvSpPr/>
          <p:nvPr/>
        </p:nvSpPr>
        <p:spPr>
          <a:xfrm>
            <a:off x="4491039" y="3330576"/>
            <a:ext cx="552450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D115D15-5B5F-4E8A-AAE3-2A3FE1740A3E}"/>
              </a:ext>
            </a:extLst>
          </p:cNvPr>
          <p:cNvCxnSpPr>
            <a:stCxn id="7" idx="0"/>
          </p:cNvCxnSpPr>
          <p:nvPr/>
        </p:nvCxnSpPr>
        <p:spPr>
          <a:xfrm flipV="1">
            <a:off x="4225925" y="3590926"/>
            <a:ext cx="541339" cy="76200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DCADCFA-C6D0-459F-9243-2CB427BF0274}"/>
              </a:ext>
            </a:extLst>
          </p:cNvPr>
          <p:cNvSpPr txBox="1"/>
          <p:nvPr/>
        </p:nvSpPr>
        <p:spPr>
          <a:xfrm>
            <a:off x="838200" y="556895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컬렉션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CBD9F19-F161-4445-AD18-C7B55F5DB39F}"/>
              </a:ext>
            </a:extLst>
          </p:cNvPr>
          <p:cNvCxnSpPr>
            <a:stCxn id="16" idx="3"/>
          </p:cNvCxnSpPr>
          <p:nvPr/>
        </p:nvCxnSpPr>
        <p:spPr>
          <a:xfrm>
            <a:off x="1715363" y="5753618"/>
            <a:ext cx="1497737" cy="54558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F89D1FF3-9B36-474D-B1FE-3DE29E44BDAA}"/>
              </a:ext>
            </a:extLst>
          </p:cNvPr>
          <p:cNvSpPr/>
          <p:nvPr/>
        </p:nvSpPr>
        <p:spPr>
          <a:xfrm>
            <a:off x="3523988" y="6153152"/>
            <a:ext cx="349251" cy="260350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C8DD80-0312-418A-8AD3-E85B63DCECFE}"/>
              </a:ext>
            </a:extLst>
          </p:cNvPr>
          <p:cNvSpPr txBox="1"/>
          <p:nvPr/>
        </p:nvSpPr>
        <p:spPr>
          <a:xfrm>
            <a:off x="49997" y="4503255"/>
            <a:ext cx="1882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메타데이터 형식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EC5211C-BEFD-4C3D-8AAE-6BC67AA15A30}"/>
              </a:ext>
            </a:extLst>
          </p:cNvPr>
          <p:cNvCxnSpPr>
            <a:endCxn id="19" idx="0"/>
          </p:cNvCxnSpPr>
          <p:nvPr/>
        </p:nvCxnSpPr>
        <p:spPr>
          <a:xfrm>
            <a:off x="1995751" y="4667250"/>
            <a:ext cx="1702863" cy="1485902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4355CE-1DB8-46B4-A3BA-AB576CE2A18C}"/>
              </a:ext>
            </a:extLst>
          </p:cNvPr>
          <p:cNvCxnSpPr>
            <a:stCxn id="13" idx="4"/>
          </p:cNvCxnSpPr>
          <p:nvPr/>
        </p:nvCxnSpPr>
        <p:spPr>
          <a:xfrm flipH="1">
            <a:off x="3698613" y="3590926"/>
            <a:ext cx="1068651" cy="258445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5267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79579-8EC4-420E-B05A-ECCC62CC6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en-US" altLang="ko-KR" dirty="0" err="1"/>
              <a:t>OpenAPI</a:t>
            </a:r>
            <a:r>
              <a:rPr lang="en-US" altLang="ko-KR" dirty="0"/>
              <a:t> </a:t>
            </a:r>
            <a:r>
              <a:rPr lang="ko-KR" altLang="en-US" dirty="0"/>
              <a:t>등록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D90430-60BE-4243-AB07-EFA377AB4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7340"/>
            <a:ext cx="5524500" cy="1798319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err="1"/>
              <a:t>OpenAPI</a:t>
            </a:r>
            <a:r>
              <a:rPr lang="en-US" altLang="ko-KR" sz="1400" dirty="0"/>
              <a:t> </a:t>
            </a:r>
            <a:r>
              <a:rPr lang="ko-KR" altLang="en-US" sz="1400" dirty="0"/>
              <a:t>관리 항목에</a:t>
            </a:r>
            <a:r>
              <a:rPr lang="en-US" altLang="ko-KR" sz="1400" dirty="0"/>
              <a:t>,</a:t>
            </a:r>
            <a:r>
              <a:rPr lang="ko-KR" altLang="en-US" sz="1400" dirty="0"/>
              <a:t> 받은 </a:t>
            </a:r>
            <a:r>
              <a:rPr lang="en-US" altLang="ko-KR" sz="1400" dirty="0" err="1"/>
              <a:t>OpenAPI</a:t>
            </a:r>
            <a:r>
              <a:rPr lang="en-US" altLang="ko-KR" sz="1400" dirty="0"/>
              <a:t> </a:t>
            </a:r>
            <a:r>
              <a:rPr lang="ko-KR" altLang="en-US" sz="1400" dirty="0"/>
              <a:t>키 값 등록</a:t>
            </a:r>
            <a:r>
              <a:rPr lang="en-US" altLang="ko-KR" sz="1400" dirty="0"/>
              <a:t>(</a:t>
            </a:r>
            <a:r>
              <a:rPr lang="ko-KR" altLang="en-US" sz="1400" dirty="0"/>
              <a:t>테스트 가능</a:t>
            </a:r>
            <a:r>
              <a:rPr lang="en-US" altLang="ko-KR" sz="1400" dirty="0"/>
              <a:t>)</a:t>
            </a:r>
          </a:p>
          <a:p>
            <a:pPr>
              <a:lnSpc>
                <a:spcPct val="120000"/>
              </a:lnSpc>
            </a:pPr>
            <a:r>
              <a:rPr lang="ko-KR" altLang="en-US" sz="1400" dirty="0"/>
              <a:t>서비스</a:t>
            </a:r>
            <a:r>
              <a:rPr lang="en-US" altLang="ko-KR" sz="1400" dirty="0"/>
              <a:t>(</a:t>
            </a:r>
            <a:r>
              <a:rPr lang="ko-KR" altLang="en-US" sz="1400" dirty="0"/>
              <a:t>개발</a:t>
            </a:r>
            <a:r>
              <a:rPr lang="en-US" altLang="ko-KR" sz="1400" dirty="0"/>
              <a:t>)</a:t>
            </a:r>
            <a:r>
              <a:rPr lang="ko-KR" altLang="en-US" sz="1400" dirty="0"/>
              <a:t> 테스트용 </a:t>
            </a:r>
            <a:r>
              <a:rPr lang="en-US" altLang="ko-KR" sz="1400" dirty="0" err="1"/>
              <a:t>api</a:t>
            </a:r>
            <a:r>
              <a:rPr lang="en-US" altLang="ko-KR" sz="1400" dirty="0"/>
              <a:t> </a:t>
            </a:r>
            <a:r>
              <a:rPr lang="ko-KR" altLang="en-US" sz="1400" dirty="0"/>
              <a:t>접속 </a:t>
            </a:r>
            <a:r>
              <a:rPr lang="en-US" altLang="ko-KR" sz="1400" dirty="0"/>
              <a:t>URL – </a:t>
            </a:r>
            <a:r>
              <a:rPr lang="ko-KR" altLang="en-US" sz="1400" dirty="0"/>
              <a:t> </a:t>
            </a:r>
            <a:r>
              <a:rPr lang="en-US" altLang="ko-KR" sz="1400" dirty="0">
                <a:solidFill>
                  <a:schemeClr val="accent2"/>
                </a:solidFill>
              </a:rPr>
              <a:t>9</a:t>
            </a:r>
            <a:r>
              <a:rPr lang="ko-KR" altLang="en-US" sz="1400" dirty="0">
                <a:solidFill>
                  <a:schemeClr val="accent2"/>
                </a:solidFill>
              </a:rPr>
              <a:t> 페이지 상세 설명</a:t>
            </a:r>
            <a:endParaRPr lang="en-US" altLang="ko-KR" sz="1400" dirty="0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ko-KR" sz="1400" dirty="0">
                <a:solidFill>
                  <a:schemeClr val="accent2"/>
                </a:solidFill>
              </a:rPr>
              <a:t>http://NaRDA-IP/dr/openapi/submit</a:t>
            </a:r>
          </a:p>
          <a:p>
            <a:pPr lvl="1">
              <a:lnSpc>
                <a:spcPct val="120000"/>
              </a:lnSpc>
            </a:pPr>
            <a:r>
              <a:rPr lang="en-US" altLang="ko-KR" sz="1400" dirty="0">
                <a:solidFill>
                  <a:schemeClr val="accent2"/>
                </a:solidFill>
              </a:rPr>
              <a:t>http://NaRDA-IP/dr/openapi/data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EA93F4-853C-4F0A-AB2E-886727C5D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94A386-5FC6-49DD-BAB7-8AA836F5AF00}"/>
              </a:ext>
            </a:extLst>
          </p:cNvPr>
          <p:cNvSpPr/>
          <p:nvPr/>
        </p:nvSpPr>
        <p:spPr>
          <a:xfrm>
            <a:off x="8312149" y="136525"/>
            <a:ext cx="3749675" cy="333375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en-US" altLang="ko-KR" sz="1600" dirty="0" err="1"/>
              <a:t>DataON</a:t>
            </a:r>
            <a:r>
              <a:rPr lang="en-US" altLang="ko-KR" sz="1600" dirty="0"/>
              <a:t> </a:t>
            </a:r>
            <a:r>
              <a:rPr lang="ko-KR" altLang="en-US" sz="1600" dirty="0"/>
              <a:t>연구데이터 </a:t>
            </a:r>
            <a:r>
              <a:rPr lang="ko-KR" altLang="en-US" sz="1600" dirty="0" err="1"/>
              <a:t>레포지터리</a:t>
            </a:r>
            <a:r>
              <a:rPr lang="ko-KR" altLang="en-US" sz="1600" dirty="0"/>
              <a:t> 작업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2D33F1-DACE-4061-BC73-6F1BFEF23F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20"/>
          <a:stretch/>
        </p:blipFill>
        <p:spPr>
          <a:xfrm>
            <a:off x="361949" y="3850835"/>
            <a:ext cx="5391151" cy="28505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EF750BF-E311-4CBD-AEBA-7D52265DFA9E}"/>
              </a:ext>
            </a:extLst>
          </p:cNvPr>
          <p:cNvSpPr/>
          <p:nvPr/>
        </p:nvSpPr>
        <p:spPr>
          <a:xfrm>
            <a:off x="2024233" y="3482342"/>
            <a:ext cx="24793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>
                <a:solidFill>
                  <a:schemeClr val="accent2"/>
                </a:solidFill>
              </a:rPr>
              <a:t>NaRDA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 err="1">
                <a:solidFill>
                  <a:schemeClr val="accent2"/>
                </a:solidFill>
              </a:rPr>
              <a:t>OpenAPI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>
                <a:solidFill>
                  <a:schemeClr val="accent2"/>
                </a:solidFill>
              </a:rPr>
              <a:t>관리</a:t>
            </a:r>
            <a:endParaRPr lang="ko-KR" altLang="en-US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80DDF9DD-736A-48AB-9783-D06F0B353F04}"/>
              </a:ext>
            </a:extLst>
          </p:cNvPr>
          <p:cNvSpPr txBox="1">
            <a:spLocks/>
          </p:cNvSpPr>
          <p:nvPr/>
        </p:nvSpPr>
        <p:spPr>
          <a:xfrm>
            <a:off x="5753100" y="1570990"/>
            <a:ext cx="5524500" cy="17983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endParaRPr lang="en-US" altLang="ko-KR" sz="14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</a:pPr>
            <a:endParaRPr lang="en-US" altLang="ko-KR" sz="1400" dirty="0">
              <a:solidFill>
                <a:schemeClr val="accent2"/>
              </a:solidFill>
            </a:endParaRPr>
          </a:p>
          <a:p>
            <a:pPr lvl="1">
              <a:lnSpc>
                <a:spcPct val="120000"/>
              </a:lnSpc>
            </a:pPr>
            <a:r>
              <a:rPr lang="en-US" altLang="ko-KR" sz="1400" dirty="0">
                <a:solidFill>
                  <a:schemeClr val="accent2"/>
                </a:solidFill>
              </a:rPr>
              <a:t>http://10.150.0.12:80/</a:t>
            </a:r>
            <a:r>
              <a:rPr lang="en-US" altLang="ko-KR" sz="1400" dirty="0" err="1">
                <a:solidFill>
                  <a:schemeClr val="accent2"/>
                </a:solidFill>
              </a:rPr>
              <a:t>dr</a:t>
            </a:r>
            <a:r>
              <a:rPr lang="en-US" altLang="ko-KR" sz="1400" dirty="0">
                <a:solidFill>
                  <a:schemeClr val="accent2"/>
                </a:solidFill>
              </a:rPr>
              <a:t>/</a:t>
            </a:r>
            <a:r>
              <a:rPr lang="en-US" altLang="ko-KR" sz="1400" dirty="0" err="1">
                <a:solidFill>
                  <a:schemeClr val="accent2"/>
                </a:solidFill>
              </a:rPr>
              <a:t>openapi</a:t>
            </a:r>
            <a:r>
              <a:rPr lang="en-US" altLang="ko-KR" sz="1400" dirty="0">
                <a:solidFill>
                  <a:schemeClr val="accent2"/>
                </a:solidFill>
              </a:rPr>
              <a:t>/</a:t>
            </a:r>
            <a:r>
              <a:rPr lang="en-US" altLang="ko-KR" sz="1400" dirty="0" err="1">
                <a:solidFill>
                  <a:schemeClr val="accent2"/>
                </a:solidFill>
              </a:rPr>
              <a:t>data?key</a:t>
            </a:r>
            <a:r>
              <a:rPr lang="en-US" altLang="ko-KR" sz="1400" dirty="0">
                <a:solidFill>
                  <a:schemeClr val="accent2"/>
                </a:solidFill>
              </a:rPr>
              <a:t>=...&amp;collection=ACOMS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D1589D6-66CD-4463-98A5-47DED7D45A4D}"/>
              </a:ext>
            </a:extLst>
          </p:cNvPr>
          <p:cNvSpPr/>
          <p:nvPr/>
        </p:nvSpPr>
        <p:spPr>
          <a:xfrm>
            <a:off x="8026418" y="3429000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solidFill>
                  <a:schemeClr val="accent2"/>
                </a:solidFill>
              </a:rPr>
              <a:t>연계 인터페이스 관리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5F237B3-C9DB-44BF-BF70-E42D3A85C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598" y="3798332"/>
            <a:ext cx="5941453" cy="285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283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7DC0-A4ED-3062-21BC-59D50475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ACF2EE5A-0129-F06A-8F69-C3BDD40B055F}"/>
              </a:ext>
            </a:extLst>
          </p:cNvPr>
          <p:cNvSpPr/>
          <p:nvPr/>
        </p:nvSpPr>
        <p:spPr>
          <a:xfrm>
            <a:off x="397071" y="480122"/>
            <a:ext cx="5690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b="1" dirty="0">
                <a:solidFill>
                  <a:schemeClr val="accent2"/>
                </a:solidFill>
              </a:rPr>
              <a:t>실제 활용 예</a:t>
            </a:r>
            <a:r>
              <a:rPr lang="en-US" altLang="ko-KR" dirty="0"/>
              <a:t>) </a:t>
            </a:r>
            <a:r>
              <a:rPr lang="ko-KR" altLang="en-US" dirty="0"/>
              <a:t>연계 인터페이스 관리 </a:t>
            </a:r>
            <a:r>
              <a:rPr lang="en-US" altLang="ko-KR" dirty="0"/>
              <a:t>-</a:t>
            </a:r>
            <a:r>
              <a:rPr lang="ko-KR" altLang="en-US" dirty="0"/>
              <a:t> 수집현황 조회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BA8D792-D7A2-42AE-A297-07643167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AE4E17C-4149-4EDD-9BA8-6D8DB8028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071" y="1387174"/>
            <a:ext cx="11337729" cy="424686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3450199B-0C71-4C4E-975E-AB1E31852716}"/>
              </a:ext>
            </a:extLst>
          </p:cNvPr>
          <p:cNvSpPr/>
          <p:nvPr/>
        </p:nvSpPr>
        <p:spPr>
          <a:xfrm>
            <a:off x="978129" y="5881424"/>
            <a:ext cx="18755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데이터 상태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96AB39-7EF7-4A70-A77F-AC7DEFB4E362}"/>
              </a:ext>
            </a:extLst>
          </p:cNvPr>
          <p:cNvSpPr/>
          <p:nvPr/>
        </p:nvSpPr>
        <p:spPr>
          <a:xfrm>
            <a:off x="6106395" y="5882965"/>
            <a:ext cx="985998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/>
              <a:t>수집</a:t>
            </a:r>
            <a:endParaRPr lang="ko-KR" altLang="en-US" sz="16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1CB1011-5650-4F0B-8D80-79B1E562BE56}"/>
              </a:ext>
            </a:extLst>
          </p:cNvPr>
          <p:cNvSpPr/>
          <p:nvPr/>
        </p:nvSpPr>
        <p:spPr>
          <a:xfrm>
            <a:off x="7524648" y="5881424"/>
            <a:ext cx="985998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/>
              <a:t>통합</a:t>
            </a:r>
            <a:endParaRPr lang="ko-KR" altLang="en-US" sz="16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FB5B2B-368B-4A3B-97C4-88AFC2E1F82E}"/>
              </a:ext>
            </a:extLst>
          </p:cNvPr>
          <p:cNvSpPr/>
          <p:nvPr/>
        </p:nvSpPr>
        <p:spPr>
          <a:xfrm>
            <a:off x="8942901" y="5881424"/>
            <a:ext cx="985998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서비스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4DECAE12-4327-4789-A014-2B9FDE6D82FD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7092393" y="6050701"/>
            <a:ext cx="432255" cy="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3065FDB-3395-4E5D-AF0D-1DD04E083417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8510646" y="6050701"/>
            <a:ext cx="43225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1FFE5D-D7E2-4C3A-896B-3703F72D1877}"/>
              </a:ext>
            </a:extLst>
          </p:cNvPr>
          <p:cNvSpPr/>
          <p:nvPr/>
        </p:nvSpPr>
        <p:spPr>
          <a:xfrm>
            <a:off x="3346644" y="5881424"/>
            <a:ext cx="985998" cy="33855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등록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97FD290-29F5-4DF7-A8D2-FD8053B35B74}"/>
              </a:ext>
            </a:extLst>
          </p:cNvPr>
          <p:cNvSpPr/>
          <p:nvPr/>
        </p:nvSpPr>
        <p:spPr>
          <a:xfrm>
            <a:off x="4667353" y="5887648"/>
            <a:ext cx="985998" cy="30777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승인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검토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2F58CFB-A4FE-47E0-9C0C-DECF905F3E1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 flipV="1">
            <a:off x="4332642" y="6041537"/>
            <a:ext cx="334711" cy="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7E72A680-EE42-4680-B0CC-7E034D1255CC}"/>
              </a:ext>
            </a:extLst>
          </p:cNvPr>
          <p:cNvCxnSpPr>
            <a:stCxn id="13" idx="3"/>
            <a:endCxn id="6" idx="1"/>
          </p:cNvCxnSpPr>
          <p:nvPr/>
        </p:nvCxnSpPr>
        <p:spPr>
          <a:xfrm>
            <a:off x="5653351" y="6041537"/>
            <a:ext cx="453044" cy="107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2192BF25-C44F-4FF8-905F-CCCB8BECBB28}"/>
              </a:ext>
            </a:extLst>
          </p:cNvPr>
          <p:cNvCxnSpPr>
            <a:stCxn id="9" idx="2"/>
            <a:endCxn id="8" idx="2"/>
          </p:cNvCxnSpPr>
          <p:nvPr/>
        </p:nvCxnSpPr>
        <p:spPr>
          <a:xfrm rot="5400000">
            <a:off x="8726774" y="5510852"/>
            <a:ext cx="12700" cy="1418253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CF0572B1-611C-49A7-9BBB-2EBD0047D2AB}"/>
              </a:ext>
            </a:extLst>
          </p:cNvPr>
          <p:cNvCxnSpPr>
            <a:stCxn id="8" idx="2"/>
            <a:endCxn id="6" idx="2"/>
          </p:cNvCxnSpPr>
          <p:nvPr/>
        </p:nvCxnSpPr>
        <p:spPr>
          <a:xfrm rot="5400000">
            <a:off x="7307751" y="5511622"/>
            <a:ext cx="1541" cy="1418253"/>
          </a:xfrm>
          <a:prstGeom prst="curvedConnector3">
            <a:avLst>
              <a:gd name="adj1" fmla="val 149345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구부러짐 21">
            <a:extLst>
              <a:ext uri="{FF2B5EF4-FFF2-40B4-BE49-F238E27FC236}">
                <a16:creationId xmlns:a16="http://schemas.microsoft.com/office/drawing/2014/main" id="{D8E67EF2-1B63-4976-A757-4D2CEDA28A19}"/>
              </a:ext>
            </a:extLst>
          </p:cNvPr>
          <p:cNvCxnSpPr>
            <a:stCxn id="13" idx="2"/>
            <a:endCxn id="12" idx="2"/>
          </p:cNvCxnSpPr>
          <p:nvPr/>
        </p:nvCxnSpPr>
        <p:spPr>
          <a:xfrm rot="5400000">
            <a:off x="4487722" y="5547347"/>
            <a:ext cx="24553" cy="1320709"/>
          </a:xfrm>
          <a:prstGeom prst="curvedConnector3">
            <a:avLst>
              <a:gd name="adj1" fmla="val 10310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74E4A1E-B248-428A-A5DD-566274C806CB}"/>
              </a:ext>
            </a:extLst>
          </p:cNvPr>
          <p:cNvSpPr txBox="1"/>
          <p:nvPr/>
        </p:nvSpPr>
        <p:spPr>
          <a:xfrm>
            <a:off x="8404107" y="6408107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이관 반려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E34521-0C8D-42B5-AECD-14121BA37F78}"/>
              </a:ext>
            </a:extLst>
          </p:cNvPr>
          <p:cNvSpPr txBox="1"/>
          <p:nvPr/>
        </p:nvSpPr>
        <p:spPr>
          <a:xfrm>
            <a:off x="6948393" y="6426720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이관 반려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48F6A7-F54A-4D18-9946-539E68CBC15B}"/>
              </a:ext>
            </a:extLst>
          </p:cNvPr>
          <p:cNvSpPr txBox="1"/>
          <p:nvPr/>
        </p:nvSpPr>
        <p:spPr>
          <a:xfrm>
            <a:off x="4214700" y="64222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반려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70F0A8-6A77-4849-8579-A9FAF17F3F91}"/>
              </a:ext>
            </a:extLst>
          </p:cNvPr>
          <p:cNvSpPr txBox="1"/>
          <p:nvPr/>
        </p:nvSpPr>
        <p:spPr>
          <a:xfrm>
            <a:off x="6935454" y="5679291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이관 완료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535A10-43C1-4D92-A191-6F8D82C7CEE8}"/>
              </a:ext>
            </a:extLst>
          </p:cNvPr>
          <p:cNvSpPr txBox="1"/>
          <p:nvPr/>
        </p:nvSpPr>
        <p:spPr>
          <a:xfrm>
            <a:off x="8333815" y="5665421"/>
            <a:ext cx="7986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이관 완료</a:t>
            </a:r>
            <a:endParaRPr lang="ko-KR" altLang="en-US" sz="11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7E7DB8-7318-4557-8E02-0163108480F7}"/>
              </a:ext>
            </a:extLst>
          </p:cNvPr>
          <p:cNvSpPr txBox="1"/>
          <p:nvPr/>
        </p:nvSpPr>
        <p:spPr>
          <a:xfrm>
            <a:off x="5629206" y="6088673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실패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D741A6-BC1A-46BE-A78E-414F4685B4F0}"/>
              </a:ext>
            </a:extLst>
          </p:cNvPr>
          <p:cNvSpPr txBox="1"/>
          <p:nvPr/>
        </p:nvSpPr>
        <p:spPr>
          <a:xfrm>
            <a:off x="5623737" y="563317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대기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FCA30E-C2E3-4104-8D41-84A29BE05EFC}"/>
              </a:ext>
            </a:extLst>
          </p:cNvPr>
          <p:cNvSpPr txBox="1"/>
          <p:nvPr/>
        </p:nvSpPr>
        <p:spPr>
          <a:xfrm>
            <a:off x="5623925" y="5825026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완료</a:t>
            </a:r>
          </a:p>
        </p:txBody>
      </p:sp>
    </p:spTree>
    <p:extLst>
      <p:ext uri="{BB962C8B-B14F-4D97-AF65-F5344CB8AC3E}">
        <p14:creationId xmlns:p14="http://schemas.microsoft.com/office/powerpoint/2010/main" val="104789822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DE0D1E2-FA57-4337-93A5-2A7ECA32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E3A0C8-5BD6-4AD7-B9E0-5F24E43A9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627" y="0"/>
            <a:ext cx="8092173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97F2EB07-DC41-45F0-ABD5-FC479AE33F7E}"/>
              </a:ext>
            </a:extLst>
          </p:cNvPr>
          <p:cNvSpPr/>
          <p:nvPr/>
        </p:nvSpPr>
        <p:spPr>
          <a:xfrm>
            <a:off x="257598" y="501134"/>
            <a:ext cx="26677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fontAlgn="ctr"/>
            <a:r>
              <a:rPr lang="ko-KR" altLang="en-US" b="1" dirty="0">
                <a:latin typeface="NanumSquare" panose="020B0600000101010101" pitchFamily="50" charset="-127"/>
                <a:ea typeface="NanumSquare" panose="020B0600000101010101" pitchFamily="50" charset="-127"/>
              </a:rPr>
              <a:t>연구데이터 등록 웹 페이지</a:t>
            </a:r>
            <a:endParaRPr lang="en-US" altLang="ko-KR" b="1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278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192655-EAD7-42D5-873B-73ED98B63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894823-FBD1-41B4-A31D-E305A9300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998" y="157397"/>
            <a:ext cx="5882482" cy="43021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092CFE0-DAAF-4E91-A3B1-902F9054A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98" y="4512041"/>
            <a:ext cx="5884793" cy="21415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C2AB677-EA0A-46BD-8706-E3F4826F3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270" y="1113756"/>
            <a:ext cx="5827144" cy="48299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86FD39E-3257-4670-B7E0-8CAEFCA9BB46}"/>
              </a:ext>
            </a:extLst>
          </p:cNvPr>
          <p:cNvSpPr/>
          <p:nvPr/>
        </p:nvSpPr>
        <p:spPr>
          <a:xfrm>
            <a:off x="9259191" y="231311"/>
            <a:ext cx="26677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fontAlgn="ctr"/>
            <a:r>
              <a:rPr lang="ko-KR" altLang="en-US" b="1" dirty="0">
                <a:latin typeface="NanumSquare" panose="020B0600000101010101" pitchFamily="50" charset="-127"/>
                <a:ea typeface="NanumSquare" panose="020B0600000101010101" pitchFamily="50" charset="-127"/>
              </a:rPr>
              <a:t>연구데이터 등록 웹 페이지</a:t>
            </a:r>
            <a:endParaRPr lang="en-US" altLang="ko-KR" b="1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3828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D42A4A0-2BD5-44DC-9858-480585D6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E093-9DE1-49FC-BBF1-C26117B800C5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9809025-6749-4488-B41C-98F1134DD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1456" y="1023079"/>
            <a:ext cx="6008557" cy="41991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E531854-851B-49D0-B8C2-157D8BBC8F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49312"/>
            <a:ext cx="6030546" cy="35693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0F49F33-F123-4893-B44A-42E08EA0CCF9}"/>
              </a:ext>
            </a:extLst>
          </p:cNvPr>
          <p:cNvSpPr/>
          <p:nvPr/>
        </p:nvSpPr>
        <p:spPr>
          <a:xfrm>
            <a:off x="9281676" y="271359"/>
            <a:ext cx="2667718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algn="ctr" fontAlgn="ctr"/>
            <a:r>
              <a:rPr lang="ko-KR" altLang="en-US" b="1" dirty="0">
                <a:latin typeface="NanumSquare" panose="020B0600000101010101" pitchFamily="50" charset="-127"/>
                <a:ea typeface="NanumSquare" panose="020B0600000101010101" pitchFamily="50" charset="-127"/>
              </a:rPr>
              <a:t>연구데이터 등록 웹 페이지</a:t>
            </a:r>
            <a:endParaRPr lang="en-US" altLang="ko-KR" b="1" dirty="0">
              <a:latin typeface="NanumSquare" panose="020B0600000101010101" pitchFamily="50" charset="-127"/>
              <a:ea typeface="NanumSquare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2555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</TotalTime>
  <Words>1298</Words>
  <Application>Microsoft Office PowerPoint</Application>
  <PresentationFormat>와이드스크린</PresentationFormat>
  <Paragraphs>274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NanumSquare</vt:lpstr>
      <vt:lpstr>맑은 고딕</vt:lpstr>
      <vt:lpstr>Arial</vt:lpstr>
      <vt:lpstr>Wingdings</vt:lpstr>
      <vt:lpstr>Office 테마</vt:lpstr>
      <vt:lpstr>국가연구데이터플랫폼(DataON) 개요</vt:lpstr>
      <vt:lpstr>연구데이터 리포지터리(NaRDA) 개요</vt:lpstr>
      <vt:lpstr>NaRDA - DataON 데이터 연계</vt:lpstr>
      <vt:lpstr>ACOMS – DataON 연계 메타데이터 정의</vt:lpstr>
      <vt:lpstr>ACOMS+연계 작업 테스트</vt:lpstr>
      <vt:lpstr>ACOMS+연계 메타형식 XML</vt:lpstr>
      <vt:lpstr>PowerPoint 프레젠테이션</vt:lpstr>
      <vt:lpstr>1. 데이터 컬렉션 생성</vt:lpstr>
      <vt:lpstr>2. 메타데이터 형식(구조) 생성</vt:lpstr>
      <vt:lpstr>3. 컬렉션과 메타데이터 형식(구조) 연결</vt:lpstr>
      <vt:lpstr>4. OpenAPI 등록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ACOMS+ - DataON 연계현황</dc:title>
  <dc:creator>ower</dc:creator>
  <cp:lastModifiedBy>ower</cp:lastModifiedBy>
  <cp:revision>39</cp:revision>
  <cp:lastPrinted>2025-08-22T01:41:10Z</cp:lastPrinted>
  <dcterms:created xsi:type="dcterms:W3CDTF">2025-07-08T06:36:41Z</dcterms:created>
  <dcterms:modified xsi:type="dcterms:W3CDTF">2026-05-14T06:49:47Z</dcterms:modified>
</cp:coreProperties>
</file>